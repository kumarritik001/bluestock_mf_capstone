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mbria Bold" charset="1" panose="02040803050406030204"/>
      <p:regular r:id="rId25"/>
    </p:embeddedFont>
    <p:embeddedFont>
      <p:font typeface="Cambria" charset="1" panose="02040503050406030204"/>
      <p:regular r:id="rId26"/>
    </p:embeddedFont>
    <p:embeddedFont>
      <p:font typeface="Calibri (MS)" charset="1" panose="020F0502020204030204"/>
      <p:regular r:id="rId27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6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30.png" Type="http://schemas.openxmlformats.org/officeDocument/2006/relationships/image"/><Relationship Id="rId5" Target="../media/image2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33607"/>
            <a:ext cx="18313403" cy="116843"/>
            <a:chOff x="0" y="0"/>
            <a:chExt cx="24417871" cy="155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55829"/>
            </a:xfrm>
            <a:custGeom>
              <a:avLst/>
              <a:gdLst/>
              <a:ahLst/>
              <a:cxnLst/>
              <a:rect r="r" b="b" t="t" l="l"/>
              <a:pathLst>
                <a:path h="1558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D3260"/>
            </a:solidFill>
            <a:ln w="25400" cap="sq">
              <a:solidFill>
                <a:srgbClr val="0D326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868150" y="-1482090"/>
            <a:ext cx="8267700" cy="8267700"/>
            <a:chOff x="0" y="0"/>
            <a:chExt cx="11023600" cy="11023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3600" cy="11023600"/>
            </a:xfrm>
            <a:custGeom>
              <a:avLst/>
              <a:gdLst/>
              <a:ahLst/>
              <a:cxnLst/>
              <a:rect r="r" b="b" t="t" l="l"/>
              <a:pathLst>
                <a:path h="11023600" w="11023600">
                  <a:moveTo>
                    <a:pt x="0" y="5511800"/>
                  </a:moveTo>
                  <a:cubicBezTo>
                    <a:pt x="0" y="2467737"/>
                    <a:pt x="2467737" y="0"/>
                    <a:pt x="5511800" y="0"/>
                  </a:cubicBezTo>
                  <a:cubicBezTo>
                    <a:pt x="8555863" y="0"/>
                    <a:pt x="11023600" y="2467737"/>
                    <a:pt x="11023600" y="5511800"/>
                  </a:cubicBezTo>
                  <a:cubicBezTo>
                    <a:pt x="11023600" y="8555863"/>
                    <a:pt x="8555863" y="11023600"/>
                    <a:pt x="5511800" y="11023600"/>
                  </a:cubicBezTo>
                  <a:cubicBezTo>
                    <a:pt x="2467737" y="11023600"/>
                    <a:pt x="0" y="8555863"/>
                    <a:pt x="0" y="5511800"/>
                  </a:cubicBezTo>
                  <a:close/>
                </a:path>
              </a:pathLst>
            </a:custGeom>
            <a:solidFill>
              <a:srgbClr val="1A4A7A">
                <a:alpha val="8627"/>
              </a:srgbClr>
            </a:solidFill>
            <a:ln w="381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154663" y="353063"/>
            <a:ext cx="5877563" cy="5877563"/>
            <a:chOff x="0" y="0"/>
            <a:chExt cx="7836751" cy="7836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3918331"/>
                  </a:moveTo>
                  <a:cubicBezTo>
                    <a:pt x="0" y="1754378"/>
                    <a:pt x="1754378" y="0"/>
                    <a:pt x="3918331" y="0"/>
                  </a:cubicBezTo>
                  <a:cubicBezTo>
                    <a:pt x="6082284" y="0"/>
                    <a:pt x="7836789" y="1754378"/>
                    <a:pt x="7836789" y="3918331"/>
                  </a:cubicBezTo>
                  <a:cubicBezTo>
                    <a:pt x="7836789" y="6082284"/>
                    <a:pt x="6082411" y="7836789"/>
                    <a:pt x="3918331" y="7836789"/>
                  </a:cubicBezTo>
                  <a:cubicBezTo>
                    <a:pt x="1754251" y="7836789"/>
                    <a:pt x="0" y="6082411"/>
                    <a:pt x="0" y="3918331"/>
                  </a:cubicBezTo>
                  <a:close/>
                </a:path>
              </a:pathLst>
            </a:custGeom>
            <a:solidFill>
              <a:srgbClr val="0EA5E9">
                <a:alpha val="1961"/>
              </a:srgbClr>
            </a:solidFill>
            <a:ln w="25400" cap="sq">
              <a:solidFill>
                <a:srgbClr val="B8D4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617703" y="2181863"/>
            <a:ext cx="3317243" cy="3317243"/>
            <a:chOff x="0" y="0"/>
            <a:chExt cx="4422991" cy="442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23029" cy="4423029"/>
            </a:xfrm>
            <a:custGeom>
              <a:avLst/>
              <a:gdLst/>
              <a:ahLst/>
              <a:cxnLst/>
              <a:rect r="r" b="b" t="t" l="l"/>
              <a:pathLst>
                <a:path h="4423029" w="4423029">
                  <a:moveTo>
                    <a:pt x="0" y="2211451"/>
                  </a:moveTo>
                  <a:cubicBezTo>
                    <a:pt x="0" y="990092"/>
                    <a:pt x="990092" y="0"/>
                    <a:pt x="2211451" y="0"/>
                  </a:cubicBezTo>
                  <a:cubicBezTo>
                    <a:pt x="3432810" y="0"/>
                    <a:pt x="4423029" y="990092"/>
                    <a:pt x="4423029" y="2211451"/>
                  </a:cubicBezTo>
                  <a:cubicBezTo>
                    <a:pt x="4423029" y="3432810"/>
                    <a:pt x="3432810" y="4423029"/>
                    <a:pt x="2211451" y="4423029"/>
                  </a:cubicBezTo>
                  <a:cubicBezTo>
                    <a:pt x="990092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0EA5E9">
                <a:alpha val="15686"/>
              </a:srgbClr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-12697" y="9771383"/>
            <a:ext cx="18313403" cy="537467"/>
            <a:chOff x="0" y="0"/>
            <a:chExt cx="24417871" cy="7166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910" cy="716661"/>
            </a:xfrm>
            <a:custGeom>
              <a:avLst/>
              <a:gdLst/>
              <a:ahLst/>
              <a:cxnLst/>
              <a:rect r="r" b="b" t="t" l="l"/>
              <a:pathLst>
                <a:path h="71666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0D3260"/>
            </a:solidFill>
            <a:ln w="25400" cap="sq">
              <a:solidFill>
                <a:srgbClr val="0D326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93143" y="627383"/>
            <a:ext cx="1582417" cy="720347"/>
            <a:chOff x="0" y="0"/>
            <a:chExt cx="2109889" cy="960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9927" cy="960501"/>
            </a:xfrm>
            <a:custGeom>
              <a:avLst/>
              <a:gdLst/>
              <a:ahLst/>
              <a:cxnLst/>
              <a:rect r="r" b="b" t="t" l="l"/>
              <a:pathLst>
                <a:path h="960501" w="2109927">
                  <a:moveTo>
                    <a:pt x="0" y="151638"/>
                  </a:moveTo>
                  <a:cubicBezTo>
                    <a:pt x="0" y="67945"/>
                    <a:pt x="30718" y="0"/>
                    <a:pt x="68556" y="0"/>
                  </a:cubicBezTo>
                  <a:lnTo>
                    <a:pt x="2041350" y="0"/>
                  </a:lnTo>
                  <a:cubicBezTo>
                    <a:pt x="2079188" y="0"/>
                    <a:pt x="2109927" y="67945"/>
                    <a:pt x="2109927" y="151638"/>
                  </a:cubicBezTo>
                  <a:lnTo>
                    <a:pt x="2109927" y="808863"/>
                  </a:lnTo>
                  <a:cubicBezTo>
                    <a:pt x="2109927" y="892556"/>
                    <a:pt x="2079188" y="960501"/>
                    <a:pt x="2041350" y="960501"/>
                  </a:cubicBezTo>
                  <a:lnTo>
                    <a:pt x="68556" y="960501"/>
                  </a:lnTo>
                  <a:cubicBezTo>
                    <a:pt x="30718" y="960501"/>
                    <a:pt x="0" y="892556"/>
                    <a:pt x="0" y="80886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640080"/>
            <a:ext cx="1569720" cy="694944"/>
            <a:chOff x="0" y="0"/>
            <a:chExt cx="2092960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2092960">
                  <a:moveTo>
                    <a:pt x="0" y="0"/>
                  </a:moveTo>
                  <a:lnTo>
                    <a:pt x="2092960" y="0"/>
                  </a:lnTo>
                  <a:lnTo>
                    <a:pt x="209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-121359" b="-474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9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BLUESTOCK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2011680"/>
            <a:ext cx="11887200" cy="1554480"/>
            <a:chOff x="0" y="0"/>
            <a:chExt cx="15849600" cy="207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9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584960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 spc="2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Mutual Fund Analytics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474720"/>
            <a:ext cx="11887200" cy="1371600"/>
            <a:chOff x="0" y="0"/>
            <a:chExt cx="1584960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4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58496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spc="199">
                  <a:solidFill>
                    <a:srgbClr val="B8D4F0"/>
                  </a:solidFill>
                  <a:latin typeface="Cambria"/>
                  <a:ea typeface="Cambria"/>
                  <a:cs typeface="Cambria"/>
                  <a:sym typeface="Cambria"/>
                </a:rPr>
                <a:t>Capstone Project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4961639"/>
            <a:ext cx="4597403" cy="98555"/>
            <a:chOff x="0" y="0"/>
            <a:chExt cx="6129871" cy="131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29909" cy="131445"/>
            </a:xfrm>
            <a:custGeom>
              <a:avLst/>
              <a:gdLst/>
              <a:ahLst/>
              <a:cxnLst/>
              <a:rect r="r" b="b" t="t" l="l"/>
              <a:pathLst>
                <a:path h="131445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656583" y="4961639"/>
            <a:ext cx="756923" cy="98555"/>
            <a:chOff x="0" y="0"/>
            <a:chExt cx="1009231" cy="1314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9269" cy="131445"/>
            </a:xfrm>
            <a:custGeom>
              <a:avLst/>
              <a:gdLst/>
              <a:ahLst/>
              <a:cxnLst/>
              <a:rect r="r" b="b" t="t" l="l"/>
              <a:pathLst>
                <a:path h="131445" w="1009269">
                  <a:moveTo>
                    <a:pt x="0" y="0"/>
                  </a:moveTo>
                  <a:lnTo>
                    <a:pt x="1009269" y="0"/>
                  </a:lnTo>
                  <a:lnTo>
                    <a:pt x="10092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5303520"/>
            <a:ext cx="10972800" cy="585216"/>
            <a:chOff x="0" y="0"/>
            <a:chExt cx="1463040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780288"/>
            </a:xfrm>
            <a:custGeom>
              <a:avLst/>
              <a:gdLst/>
              <a:ahLst/>
              <a:cxnLst/>
              <a:rect r="r" b="b" t="t" l="l"/>
              <a:pathLst>
                <a:path h="78028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630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Prepared by: Ritik Kumar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5888736"/>
            <a:ext cx="10972800" cy="512064"/>
            <a:chOff x="0" y="0"/>
            <a:chExt cx="146304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4630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B.Tech Chemical Engineering · Delhi Technological University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6400800"/>
            <a:ext cx="12801600" cy="512064"/>
            <a:chOff x="0" y="0"/>
            <a:chExt cx="170688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Organization: Bluestock Fintech  |  Project ID: bluestock_mf_capstone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8047" y="7491727"/>
            <a:ext cx="2170681" cy="561337"/>
            <a:chOff x="0" y="0"/>
            <a:chExt cx="2894241" cy="7484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94203" cy="748411"/>
            </a:xfrm>
            <a:custGeom>
              <a:avLst/>
              <a:gdLst/>
              <a:ahLst/>
              <a:cxnLst/>
              <a:rect r="r" b="b" t="t" l="l"/>
              <a:pathLst>
                <a:path h="748411" w="2894203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2769489" y="0"/>
                  </a:lnTo>
                  <a:cubicBezTo>
                    <a:pt x="2838323" y="0"/>
                    <a:pt x="2894203" y="55880"/>
                    <a:pt x="2894203" y="124714"/>
                  </a:cubicBezTo>
                  <a:lnTo>
                    <a:pt x="2894203" y="623697"/>
                  </a:lnTo>
                  <a:cubicBezTo>
                    <a:pt x="2894203" y="692531"/>
                    <a:pt x="2838323" y="748411"/>
                    <a:pt x="2769489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1A4A7A"/>
            </a:solidFill>
            <a:ln w="127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7498080"/>
            <a:ext cx="2157984" cy="548640"/>
            <a:chOff x="0" y="0"/>
            <a:chExt cx="2877312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77312" cy="731520"/>
            </a:xfrm>
            <a:custGeom>
              <a:avLst/>
              <a:gdLst/>
              <a:ahLst/>
              <a:cxnLst/>
              <a:rect r="r" b="b" t="t" l="l"/>
              <a:pathLst>
                <a:path h="731520" w="2877312">
                  <a:moveTo>
                    <a:pt x="0" y="0"/>
                  </a:moveTo>
                  <a:lnTo>
                    <a:pt x="2877312" y="0"/>
                  </a:lnTo>
                  <a:lnTo>
                    <a:pt x="28773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41" r="0" b="-2664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8773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322063" y="7491727"/>
            <a:ext cx="2170681" cy="561337"/>
            <a:chOff x="0" y="0"/>
            <a:chExt cx="2894241" cy="7484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94203" cy="748411"/>
            </a:xfrm>
            <a:custGeom>
              <a:avLst/>
              <a:gdLst/>
              <a:ahLst/>
              <a:cxnLst/>
              <a:rect r="r" b="b" t="t" l="l"/>
              <a:pathLst>
                <a:path h="748411" w="2894203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2769489" y="0"/>
                  </a:lnTo>
                  <a:cubicBezTo>
                    <a:pt x="2838323" y="0"/>
                    <a:pt x="2894203" y="55880"/>
                    <a:pt x="2894203" y="124714"/>
                  </a:cubicBezTo>
                  <a:lnTo>
                    <a:pt x="2894203" y="623697"/>
                  </a:lnTo>
                  <a:cubicBezTo>
                    <a:pt x="2894203" y="692531"/>
                    <a:pt x="2838323" y="748411"/>
                    <a:pt x="2769489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1A4A7A"/>
            </a:solidFill>
            <a:ln w="127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3328416" y="7498080"/>
            <a:ext cx="2157984" cy="548640"/>
            <a:chOff x="0" y="0"/>
            <a:chExt cx="2877312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77312" cy="731520"/>
            </a:xfrm>
            <a:custGeom>
              <a:avLst/>
              <a:gdLst/>
              <a:ahLst/>
              <a:cxnLst/>
              <a:rect r="r" b="b" t="t" l="l"/>
              <a:pathLst>
                <a:path h="731520" w="2877312">
                  <a:moveTo>
                    <a:pt x="0" y="0"/>
                  </a:moveTo>
                  <a:lnTo>
                    <a:pt x="2877312" y="0"/>
                  </a:lnTo>
                  <a:lnTo>
                    <a:pt x="28773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41" r="0" b="-266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8773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736079" y="7491727"/>
            <a:ext cx="2170681" cy="561337"/>
            <a:chOff x="0" y="0"/>
            <a:chExt cx="2894241" cy="74844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94203" cy="748411"/>
            </a:xfrm>
            <a:custGeom>
              <a:avLst/>
              <a:gdLst/>
              <a:ahLst/>
              <a:cxnLst/>
              <a:rect r="r" b="b" t="t" l="l"/>
              <a:pathLst>
                <a:path h="748411" w="2894203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2769489" y="0"/>
                  </a:lnTo>
                  <a:cubicBezTo>
                    <a:pt x="2838323" y="0"/>
                    <a:pt x="2894203" y="55880"/>
                    <a:pt x="2894203" y="124714"/>
                  </a:cubicBezTo>
                  <a:lnTo>
                    <a:pt x="2894203" y="623697"/>
                  </a:lnTo>
                  <a:cubicBezTo>
                    <a:pt x="2894203" y="692531"/>
                    <a:pt x="2838323" y="748411"/>
                    <a:pt x="2769489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1A4A7A"/>
            </a:solidFill>
            <a:ln w="127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742432" y="7498080"/>
            <a:ext cx="2157984" cy="548640"/>
            <a:chOff x="0" y="0"/>
            <a:chExt cx="2877312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77312" cy="731520"/>
            </a:xfrm>
            <a:custGeom>
              <a:avLst/>
              <a:gdLst/>
              <a:ahLst/>
              <a:cxnLst/>
              <a:rect r="r" b="b" t="t" l="l"/>
              <a:pathLst>
                <a:path h="731520" w="2877312">
                  <a:moveTo>
                    <a:pt x="0" y="0"/>
                  </a:moveTo>
                  <a:lnTo>
                    <a:pt x="2877312" y="0"/>
                  </a:lnTo>
                  <a:lnTo>
                    <a:pt x="28773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41" r="0" b="-2664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8773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NumPy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50095" y="7491727"/>
            <a:ext cx="2170681" cy="561337"/>
            <a:chOff x="0" y="0"/>
            <a:chExt cx="2894241" cy="74844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894203" cy="748411"/>
            </a:xfrm>
            <a:custGeom>
              <a:avLst/>
              <a:gdLst/>
              <a:ahLst/>
              <a:cxnLst/>
              <a:rect r="r" b="b" t="t" l="l"/>
              <a:pathLst>
                <a:path h="748411" w="2894203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2769489" y="0"/>
                  </a:lnTo>
                  <a:cubicBezTo>
                    <a:pt x="2838323" y="0"/>
                    <a:pt x="2894203" y="55880"/>
                    <a:pt x="2894203" y="124714"/>
                  </a:cubicBezTo>
                  <a:lnTo>
                    <a:pt x="2894203" y="623697"/>
                  </a:lnTo>
                  <a:cubicBezTo>
                    <a:pt x="2894203" y="692531"/>
                    <a:pt x="2838323" y="748411"/>
                    <a:pt x="2769489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1A4A7A"/>
            </a:solidFill>
            <a:ln w="127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156448" y="7498080"/>
            <a:ext cx="2157984" cy="548640"/>
            <a:chOff x="0" y="0"/>
            <a:chExt cx="2877312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877312" cy="731520"/>
            </a:xfrm>
            <a:custGeom>
              <a:avLst/>
              <a:gdLst/>
              <a:ahLst/>
              <a:cxnLst/>
              <a:rect r="r" b="b" t="t" l="l"/>
              <a:pathLst>
                <a:path h="731520" w="2877312">
                  <a:moveTo>
                    <a:pt x="0" y="0"/>
                  </a:moveTo>
                  <a:lnTo>
                    <a:pt x="2877312" y="0"/>
                  </a:lnTo>
                  <a:lnTo>
                    <a:pt x="28773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41" r="0" b="-2664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8773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564111" y="7491727"/>
            <a:ext cx="2170681" cy="561337"/>
            <a:chOff x="0" y="0"/>
            <a:chExt cx="2894241" cy="74844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894203" cy="748411"/>
            </a:xfrm>
            <a:custGeom>
              <a:avLst/>
              <a:gdLst/>
              <a:ahLst/>
              <a:cxnLst/>
              <a:rect r="r" b="b" t="t" l="l"/>
              <a:pathLst>
                <a:path h="748411" w="2894203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2769489" y="0"/>
                  </a:lnTo>
                  <a:cubicBezTo>
                    <a:pt x="2838323" y="0"/>
                    <a:pt x="2894203" y="55880"/>
                    <a:pt x="2894203" y="124714"/>
                  </a:cubicBezTo>
                  <a:lnTo>
                    <a:pt x="2894203" y="623697"/>
                  </a:lnTo>
                  <a:cubicBezTo>
                    <a:pt x="2894203" y="692531"/>
                    <a:pt x="2838323" y="748411"/>
                    <a:pt x="2769489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1A4A7A"/>
            </a:solidFill>
            <a:ln w="127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570464" y="7498080"/>
            <a:ext cx="2157984" cy="548640"/>
            <a:chOff x="0" y="0"/>
            <a:chExt cx="2877312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77312" cy="731520"/>
            </a:xfrm>
            <a:custGeom>
              <a:avLst/>
              <a:gdLst/>
              <a:ahLst/>
              <a:cxnLst/>
              <a:rect r="r" b="b" t="t" l="l"/>
              <a:pathLst>
                <a:path h="731520" w="2877312">
                  <a:moveTo>
                    <a:pt x="0" y="0"/>
                  </a:moveTo>
                  <a:lnTo>
                    <a:pt x="2877312" y="0"/>
                  </a:lnTo>
                  <a:lnTo>
                    <a:pt x="28773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41" r="0" b="-2664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8773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BI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438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Analytics  ·  Financial Modeling  ·  Business Intelligence  ·  Dashboard Development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EXECUTIVE 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Mutual Fund Analytics Capstone Project · Bluestock Fintech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2287" y="2096767"/>
            <a:ext cx="5499097" cy="3578857"/>
            <a:chOff x="0" y="0"/>
            <a:chExt cx="7332129" cy="47718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32218" cy="4771898"/>
            </a:xfrm>
            <a:custGeom>
              <a:avLst/>
              <a:gdLst/>
              <a:ahLst/>
              <a:cxnLst/>
              <a:rect r="r" b="b" t="t" l="l"/>
              <a:pathLst>
                <a:path h="4771898" w="7332218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7087489" y="0"/>
                  </a:lnTo>
                  <a:cubicBezTo>
                    <a:pt x="7222617" y="0"/>
                    <a:pt x="7332218" y="109601"/>
                    <a:pt x="7332218" y="244729"/>
                  </a:cubicBezTo>
                  <a:lnTo>
                    <a:pt x="7332218" y="4527169"/>
                  </a:lnTo>
                  <a:cubicBezTo>
                    <a:pt x="7332218" y="4662297"/>
                    <a:pt x="7222617" y="4771898"/>
                    <a:pt x="7087489" y="4771898"/>
                  </a:cubicBezTo>
                  <a:lnTo>
                    <a:pt x="244729" y="4771898"/>
                  </a:lnTo>
                  <a:cubicBezTo>
                    <a:pt x="109601" y="4771771"/>
                    <a:pt x="0" y="4662297"/>
                    <a:pt x="0" y="452716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7824" y="2432304"/>
            <a:ext cx="640080" cy="640080"/>
            <a:chOff x="0" y="0"/>
            <a:chExt cx="853440" cy="85344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82496" y="2377440"/>
            <a:ext cx="4114800" cy="585216"/>
            <a:chOff x="0" y="0"/>
            <a:chExt cx="54864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4864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Objective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9264" y="3171444"/>
            <a:ext cx="47548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an end-to-end Mutual Fund Analytics Platform transforming raw data into actionable investment insights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85887" y="2096767"/>
            <a:ext cx="5499097" cy="3578857"/>
            <a:chOff x="0" y="0"/>
            <a:chExt cx="7332129" cy="47718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32218" cy="4771898"/>
            </a:xfrm>
            <a:custGeom>
              <a:avLst/>
              <a:gdLst/>
              <a:ahLst/>
              <a:cxnLst/>
              <a:rect r="r" b="b" t="t" l="l"/>
              <a:pathLst>
                <a:path h="4771898" w="7332218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7087489" y="0"/>
                  </a:lnTo>
                  <a:cubicBezTo>
                    <a:pt x="7222617" y="0"/>
                    <a:pt x="7332218" y="109601"/>
                    <a:pt x="7332218" y="244729"/>
                  </a:cubicBezTo>
                  <a:lnTo>
                    <a:pt x="7332218" y="4527169"/>
                  </a:lnTo>
                  <a:cubicBezTo>
                    <a:pt x="7332218" y="4662297"/>
                    <a:pt x="7222617" y="4771898"/>
                    <a:pt x="7087489" y="4771898"/>
                  </a:cubicBezTo>
                  <a:lnTo>
                    <a:pt x="244729" y="4771898"/>
                  </a:lnTo>
                  <a:cubicBezTo>
                    <a:pt x="109601" y="4771771"/>
                    <a:pt x="0" y="4662297"/>
                    <a:pt x="0" y="452716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21424" y="2432304"/>
            <a:ext cx="640080" cy="640080"/>
            <a:chOff x="0" y="0"/>
            <a:chExt cx="853440" cy="85344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626096" y="2377440"/>
            <a:ext cx="4114800" cy="585216"/>
            <a:chOff x="0" y="0"/>
            <a:chExt cx="548640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4864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912864" y="3171444"/>
            <a:ext cx="47548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Fund data scattered across sources; no unified view of performance, risk, or investor behavior for decision-making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429487" y="2096767"/>
            <a:ext cx="5499097" cy="3578857"/>
            <a:chOff x="0" y="0"/>
            <a:chExt cx="7332129" cy="47718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32218" cy="4771898"/>
            </a:xfrm>
            <a:custGeom>
              <a:avLst/>
              <a:gdLst/>
              <a:ahLst/>
              <a:cxnLst/>
              <a:rect r="r" b="b" t="t" l="l"/>
              <a:pathLst>
                <a:path h="4771898" w="7332218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7087489" y="0"/>
                  </a:lnTo>
                  <a:cubicBezTo>
                    <a:pt x="7222617" y="0"/>
                    <a:pt x="7332218" y="109601"/>
                    <a:pt x="7332218" y="244729"/>
                  </a:cubicBezTo>
                  <a:lnTo>
                    <a:pt x="7332218" y="4527169"/>
                  </a:lnTo>
                  <a:cubicBezTo>
                    <a:pt x="7332218" y="4662297"/>
                    <a:pt x="7222617" y="4771898"/>
                    <a:pt x="7087489" y="4771898"/>
                  </a:cubicBezTo>
                  <a:lnTo>
                    <a:pt x="244729" y="4771898"/>
                  </a:lnTo>
                  <a:cubicBezTo>
                    <a:pt x="109601" y="4771771"/>
                    <a:pt x="0" y="4662297"/>
                    <a:pt x="0" y="452716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765024" y="2432304"/>
            <a:ext cx="640080" cy="640080"/>
            <a:chOff x="0" y="0"/>
            <a:chExt cx="853440" cy="85344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569696" y="2377440"/>
            <a:ext cx="4114800" cy="585216"/>
            <a:chOff x="0" y="0"/>
            <a:chExt cx="548640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4864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856464" y="3171444"/>
            <a:ext cx="47548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Integrated Python pipeline + SQLite database + Power BI dashboard covering all analytics dimensions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42287" y="6028687"/>
            <a:ext cx="5499097" cy="3578857"/>
            <a:chOff x="0" y="0"/>
            <a:chExt cx="7332129" cy="47718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32218" cy="4771898"/>
            </a:xfrm>
            <a:custGeom>
              <a:avLst/>
              <a:gdLst/>
              <a:ahLst/>
              <a:cxnLst/>
              <a:rect r="r" b="b" t="t" l="l"/>
              <a:pathLst>
                <a:path h="4771898" w="7332218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7087489" y="0"/>
                  </a:lnTo>
                  <a:cubicBezTo>
                    <a:pt x="7222617" y="0"/>
                    <a:pt x="7332218" y="109601"/>
                    <a:pt x="7332218" y="244729"/>
                  </a:cubicBezTo>
                  <a:lnTo>
                    <a:pt x="7332218" y="4527169"/>
                  </a:lnTo>
                  <a:cubicBezTo>
                    <a:pt x="7332218" y="4662297"/>
                    <a:pt x="7222617" y="4771898"/>
                    <a:pt x="7087489" y="4771898"/>
                  </a:cubicBezTo>
                  <a:lnTo>
                    <a:pt x="244729" y="4771898"/>
                  </a:lnTo>
                  <a:cubicBezTo>
                    <a:pt x="109601" y="4771771"/>
                    <a:pt x="0" y="4662297"/>
                    <a:pt x="0" y="452716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77824" y="6364224"/>
            <a:ext cx="640080" cy="640080"/>
            <a:chOff x="0" y="0"/>
            <a:chExt cx="853440" cy="85344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82496" y="6309360"/>
            <a:ext cx="4114800" cy="585216"/>
            <a:chOff x="0" y="0"/>
            <a:chExt cx="548640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4864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 Stack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9264" y="7103364"/>
            <a:ext cx="47548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· Pandas · NumPy · SQLite · Power BI · Matplotlib · Seaborn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485887" y="6028687"/>
            <a:ext cx="5499097" cy="3578857"/>
            <a:chOff x="0" y="0"/>
            <a:chExt cx="7332129" cy="477180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32218" cy="4771898"/>
            </a:xfrm>
            <a:custGeom>
              <a:avLst/>
              <a:gdLst/>
              <a:ahLst/>
              <a:cxnLst/>
              <a:rect r="r" b="b" t="t" l="l"/>
              <a:pathLst>
                <a:path h="4771898" w="7332218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7087489" y="0"/>
                  </a:lnTo>
                  <a:cubicBezTo>
                    <a:pt x="7222617" y="0"/>
                    <a:pt x="7332218" y="109601"/>
                    <a:pt x="7332218" y="244729"/>
                  </a:cubicBezTo>
                  <a:lnTo>
                    <a:pt x="7332218" y="4527169"/>
                  </a:lnTo>
                  <a:cubicBezTo>
                    <a:pt x="7332218" y="4662297"/>
                    <a:pt x="7222617" y="4771898"/>
                    <a:pt x="7087489" y="4771898"/>
                  </a:cubicBezTo>
                  <a:lnTo>
                    <a:pt x="244729" y="4771898"/>
                  </a:lnTo>
                  <a:cubicBezTo>
                    <a:pt x="109601" y="4771771"/>
                    <a:pt x="0" y="4662297"/>
                    <a:pt x="0" y="452716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821424" y="6364224"/>
            <a:ext cx="640080" cy="640080"/>
            <a:chOff x="0" y="0"/>
            <a:chExt cx="853440" cy="85344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626096" y="6309360"/>
            <a:ext cx="4114800" cy="585216"/>
            <a:chOff x="0" y="0"/>
            <a:chExt cx="5486400" cy="780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4864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Analytics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912864" y="7103364"/>
            <a:ext cx="47548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CAGR, Sharpe, Sortino, Alpha, Beta, Tracking Error, VaR, CVaR — full performance &amp; risk metric suite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429487" y="6028687"/>
            <a:ext cx="5499097" cy="3578857"/>
            <a:chOff x="0" y="0"/>
            <a:chExt cx="7332129" cy="477180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32218" cy="4771898"/>
            </a:xfrm>
            <a:custGeom>
              <a:avLst/>
              <a:gdLst/>
              <a:ahLst/>
              <a:cxnLst/>
              <a:rect r="r" b="b" t="t" l="l"/>
              <a:pathLst>
                <a:path h="4771898" w="7332218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7087489" y="0"/>
                  </a:lnTo>
                  <a:cubicBezTo>
                    <a:pt x="7222617" y="0"/>
                    <a:pt x="7332218" y="109601"/>
                    <a:pt x="7332218" y="244729"/>
                  </a:cubicBezTo>
                  <a:lnTo>
                    <a:pt x="7332218" y="4527169"/>
                  </a:lnTo>
                  <a:cubicBezTo>
                    <a:pt x="7332218" y="4662297"/>
                    <a:pt x="7222617" y="4771898"/>
                    <a:pt x="7087489" y="4771898"/>
                  </a:cubicBezTo>
                  <a:lnTo>
                    <a:pt x="244729" y="4771898"/>
                  </a:lnTo>
                  <a:cubicBezTo>
                    <a:pt x="109601" y="4771771"/>
                    <a:pt x="0" y="4662297"/>
                    <a:pt x="0" y="452716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765024" y="6364224"/>
            <a:ext cx="640080" cy="640080"/>
            <a:chOff x="0" y="0"/>
            <a:chExt cx="853440" cy="85344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569696" y="6309360"/>
            <a:ext cx="4114800" cy="585216"/>
            <a:chOff x="0" y="0"/>
            <a:chExt cx="5486400" cy="780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4864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Outcome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856464" y="7103364"/>
            <a:ext cx="47548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4-page interactive Power BI dashboard; top-performing funds identified; SIP continuity &amp; investor patterns revealed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 &amp; OBJECTIVES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Challenges · Goals · Business Impact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1998983"/>
            <a:ext cx="8072123" cy="7889243"/>
            <a:chOff x="0" y="0"/>
            <a:chExt cx="10762831" cy="10518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869" cy="10519029"/>
            </a:xfrm>
            <a:custGeom>
              <a:avLst/>
              <a:gdLst/>
              <a:ahLst/>
              <a:cxnLst/>
              <a:rect r="r" b="b" t="t" l="l"/>
              <a:pathLst>
                <a:path h="10519029" w="1076286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469245" y="0"/>
                  </a:lnTo>
                  <a:cubicBezTo>
                    <a:pt x="10631424" y="0"/>
                    <a:pt x="10762869" y="131445"/>
                    <a:pt x="10762869" y="293624"/>
                  </a:cubicBezTo>
                  <a:lnTo>
                    <a:pt x="10762869" y="10225405"/>
                  </a:lnTo>
                  <a:cubicBezTo>
                    <a:pt x="10762869" y="10387585"/>
                    <a:pt x="10631424" y="10519029"/>
                    <a:pt x="10469245" y="10519029"/>
                  </a:cubicBezTo>
                  <a:lnTo>
                    <a:pt x="293624" y="10519029"/>
                  </a:lnTo>
                  <a:cubicBezTo>
                    <a:pt x="131445" y="10519029"/>
                    <a:pt x="0" y="10387584"/>
                    <a:pt x="0" y="10225405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194560"/>
            <a:ext cx="6949440" cy="640080"/>
            <a:chOff x="0" y="0"/>
            <a:chExt cx="926592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265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8279" y="3096263"/>
            <a:ext cx="354587" cy="354587"/>
            <a:chOff x="0" y="0"/>
            <a:chExt cx="472783" cy="4727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99616" y="3035808"/>
            <a:ext cx="6766560" cy="914400"/>
            <a:chOff x="0" y="0"/>
            <a:chExt cx="902208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 data scattered across multiple disparate sources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8279" y="4193543"/>
            <a:ext cx="354587" cy="354587"/>
            <a:chOff x="0" y="0"/>
            <a:chExt cx="472783" cy="4727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99616" y="4133088"/>
            <a:ext cx="6766560" cy="914400"/>
            <a:chOff x="0" y="0"/>
            <a:chExt cx="902208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unified performance &amp; risk evaluation framework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8279" y="5290823"/>
            <a:ext cx="354587" cy="354587"/>
            <a:chOff x="0" y="0"/>
            <a:chExt cx="472783" cy="4727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99616" y="5230368"/>
            <a:ext cx="6766560" cy="914400"/>
            <a:chOff x="0" y="0"/>
            <a:chExt cx="902208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methods lack speed and comprehensiveness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8279" y="6388103"/>
            <a:ext cx="354587" cy="354587"/>
            <a:chOff x="0" y="0"/>
            <a:chExt cx="472783" cy="47278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499616" y="6327648"/>
            <a:ext cx="6766560" cy="914400"/>
            <a:chOff x="0" y="0"/>
            <a:chExt cx="902208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Investor behavior patterns difficult to analyze at scale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8279" y="7485383"/>
            <a:ext cx="354587" cy="354587"/>
            <a:chOff x="0" y="0"/>
            <a:chExt cx="472783" cy="4727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99616" y="7424928"/>
            <a:ext cx="6766560" cy="914400"/>
            <a:chOff x="0" y="0"/>
            <a:chExt cx="902208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benchmark comparison and alpha measurement tools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14183" y="1998983"/>
            <a:ext cx="8437883" cy="7889243"/>
            <a:chOff x="0" y="0"/>
            <a:chExt cx="11250511" cy="105189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50549" cy="10519029"/>
            </a:xfrm>
            <a:custGeom>
              <a:avLst/>
              <a:gdLst/>
              <a:ahLst/>
              <a:cxnLst/>
              <a:rect r="r" b="b" t="t" l="l"/>
              <a:pathLst>
                <a:path h="10519029" w="1125054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956925" y="0"/>
                  </a:lnTo>
                  <a:cubicBezTo>
                    <a:pt x="11119104" y="0"/>
                    <a:pt x="11250549" y="131445"/>
                    <a:pt x="11250549" y="293624"/>
                  </a:cubicBezTo>
                  <a:lnTo>
                    <a:pt x="11250549" y="10225405"/>
                  </a:lnTo>
                  <a:cubicBezTo>
                    <a:pt x="11250549" y="10387585"/>
                    <a:pt x="11119104" y="10519029"/>
                    <a:pt x="10956925" y="10519029"/>
                  </a:cubicBezTo>
                  <a:lnTo>
                    <a:pt x="293624" y="10519029"/>
                  </a:lnTo>
                  <a:cubicBezTo>
                    <a:pt x="131445" y="10519029"/>
                    <a:pt x="0" y="10387584"/>
                    <a:pt x="0" y="10225405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692640" y="2194560"/>
            <a:ext cx="7315200" cy="640080"/>
            <a:chOff x="0" y="0"/>
            <a:chExt cx="97536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OBJECTIVES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88503" y="3059687"/>
            <a:ext cx="720347" cy="610619"/>
            <a:chOff x="0" y="0"/>
            <a:chExt cx="960463" cy="81415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0501" cy="814197"/>
            </a:xfrm>
            <a:custGeom>
              <a:avLst/>
              <a:gdLst/>
              <a:ahLst/>
              <a:cxnLst/>
              <a:rect r="r" b="b" t="t" l="l"/>
              <a:pathLst>
                <a:path h="814197" w="960501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833247" y="0"/>
                  </a:lnTo>
                  <a:cubicBezTo>
                    <a:pt x="903478" y="0"/>
                    <a:pt x="960501" y="56896"/>
                    <a:pt x="960501" y="127254"/>
                  </a:cubicBezTo>
                  <a:lnTo>
                    <a:pt x="960501" y="686943"/>
                  </a:lnTo>
                  <a:cubicBezTo>
                    <a:pt x="960501" y="757174"/>
                    <a:pt x="903605" y="814197"/>
                    <a:pt x="833247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0" y="3072384"/>
            <a:ext cx="694944" cy="585216"/>
            <a:chOff x="0" y="0"/>
            <a:chExt cx="926592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t="0" r="-5804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265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497312" y="2999232"/>
            <a:ext cx="6858000" cy="731520"/>
            <a:chOff x="0" y="0"/>
            <a:chExt cx="914400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0" cy="975360"/>
            </a:xfrm>
            <a:custGeom>
              <a:avLst/>
              <a:gdLst/>
              <a:ahLst/>
              <a:cxnLst/>
              <a:rect r="r" b="b" t="t" l="l"/>
              <a:pathLst>
                <a:path h="9753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144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fund performance across categories &amp; fund houses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88503" y="4156967"/>
            <a:ext cx="720347" cy="610619"/>
            <a:chOff x="0" y="0"/>
            <a:chExt cx="960463" cy="8141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0501" cy="814197"/>
            </a:xfrm>
            <a:custGeom>
              <a:avLst/>
              <a:gdLst/>
              <a:ahLst/>
              <a:cxnLst/>
              <a:rect r="r" b="b" t="t" l="l"/>
              <a:pathLst>
                <a:path h="814197" w="960501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833247" y="0"/>
                  </a:lnTo>
                  <a:cubicBezTo>
                    <a:pt x="903478" y="0"/>
                    <a:pt x="960501" y="56896"/>
                    <a:pt x="960501" y="127254"/>
                  </a:cubicBezTo>
                  <a:lnTo>
                    <a:pt x="960501" y="686943"/>
                  </a:lnTo>
                  <a:cubicBezTo>
                    <a:pt x="960501" y="757174"/>
                    <a:pt x="903605" y="814197"/>
                    <a:pt x="833247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01200" y="4169664"/>
            <a:ext cx="694944" cy="585216"/>
            <a:chOff x="0" y="0"/>
            <a:chExt cx="926592" cy="780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t="0" r="-58045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265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497312" y="4096512"/>
            <a:ext cx="6858000" cy="731520"/>
            <a:chOff x="0" y="0"/>
            <a:chExt cx="914400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0" cy="975360"/>
            </a:xfrm>
            <a:custGeom>
              <a:avLst/>
              <a:gdLst/>
              <a:ahLst/>
              <a:cxnLst/>
              <a:rect r="r" b="b" t="t" l="l"/>
              <a:pathLst>
                <a:path h="9753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144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 risk with Sharpe, Sortino, VaR, and CVaR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88503" y="5254247"/>
            <a:ext cx="720347" cy="610619"/>
            <a:chOff x="0" y="0"/>
            <a:chExt cx="960463" cy="81415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0501" cy="814197"/>
            </a:xfrm>
            <a:custGeom>
              <a:avLst/>
              <a:gdLst/>
              <a:ahLst/>
              <a:cxnLst/>
              <a:rect r="r" b="b" t="t" l="l"/>
              <a:pathLst>
                <a:path h="814197" w="960501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833247" y="0"/>
                  </a:lnTo>
                  <a:cubicBezTo>
                    <a:pt x="903478" y="0"/>
                    <a:pt x="960501" y="56896"/>
                    <a:pt x="960501" y="127254"/>
                  </a:cubicBezTo>
                  <a:lnTo>
                    <a:pt x="960501" y="686943"/>
                  </a:lnTo>
                  <a:cubicBezTo>
                    <a:pt x="960501" y="757174"/>
                    <a:pt x="903605" y="814197"/>
                    <a:pt x="833247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601200" y="5266944"/>
            <a:ext cx="694944" cy="585216"/>
            <a:chOff x="0" y="0"/>
            <a:chExt cx="926592" cy="7802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6592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t="0" r="-58045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265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497312" y="5193792"/>
            <a:ext cx="6858000" cy="731520"/>
            <a:chOff x="0" y="0"/>
            <a:chExt cx="914400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975360"/>
            </a:xfrm>
            <a:custGeom>
              <a:avLst/>
              <a:gdLst/>
              <a:ahLst/>
              <a:cxnLst/>
              <a:rect r="r" b="b" t="t" l="l"/>
              <a:pathLst>
                <a:path h="9753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44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funds against benchmark indices (Alpha / Beta)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88503" y="6351527"/>
            <a:ext cx="720347" cy="610619"/>
            <a:chOff x="0" y="0"/>
            <a:chExt cx="960463" cy="81415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60501" cy="814197"/>
            </a:xfrm>
            <a:custGeom>
              <a:avLst/>
              <a:gdLst/>
              <a:ahLst/>
              <a:cxnLst/>
              <a:rect r="r" b="b" t="t" l="l"/>
              <a:pathLst>
                <a:path h="814197" w="960501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833247" y="0"/>
                  </a:lnTo>
                  <a:cubicBezTo>
                    <a:pt x="903478" y="0"/>
                    <a:pt x="960501" y="56896"/>
                    <a:pt x="960501" y="127254"/>
                  </a:cubicBezTo>
                  <a:lnTo>
                    <a:pt x="960501" y="686943"/>
                  </a:lnTo>
                  <a:cubicBezTo>
                    <a:pt x="960501" y="757174"/>
                    <a:pt x="903605" y="814197"/>
                    <a:pt x="833247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601200" y="6364224"/>
            <a:ext cx="694944" cy="585216"/>
            <a:chOff x="0" y="0"/>
            <a:chExt cx="926592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6592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t="0" r="-58045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265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497312" y="6291072"/>
            <a:ext cx="6858000" cy="731520"/>
            <a:chOff x="0" y="0"/>
            <a:chExt cx="9144000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0" cy="975360"/>
            </a:xfrm>
            <a:custGeom>
              <a:avLst/>
              <a:gdLst/>
              <a:ahLst/>
              <a:cxnLst/>
              <a:rect r="r" b="b" t="t" l="l"/>
              <a:pathLst>
                <a:path h="9753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144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 investor behavior via demographics &amp; SIP analysis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88503" y="7448807"/>
            <a:ext cx="720347" cy="610619"/>
            <a:chOff x="0" y="0"/>
            <a:chExt cx="960463" cy="81415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60501" cy="814197"/>
            </a:xfrm>
            <a:custGeom>
              <a:avLst/>
              <a:gdLst/>
              <a:ahLst/>
              <a:cxnLst/>
              <a:rect r="r" b="b" t="t" l="l"/>
              <a:pathLst>
                <a:path h="814197" w="960501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833247" y="0"/>
                  </a:lnTo>
                  <a:cubicBezTo>
                    <a:pt x="903478" y="0"/>
                    <a:pt x="960501" y="56896"/>
                    <a:pt x="960501" y="127254"/>
                  </a:cubicBezTo>
                  <a:lnTo>
                    <a:pt x="960501" y="686943"/>
                  </a:lnTo>
                  <a:cubicBezTo>
                    <a:pt x="960501" y="757174"/>
                    <a:pt x="903605" y="814197"/>
                    <a:pt x="833247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601200" y="7461504"/>
            <a:ext cx="694944" cy="585216"/>
            <a:chOff x="0" y="0"/>
            <a:chExt cx="926592" cy="7802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26592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t="0" r="-58045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9265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497312" y="7388352"/>
            <a:ext cx="6858000" cy="731520"/>
            <a:chOff x="0" y="0"/>
            <a:chExt cx="9144000" cy="975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0" cy="975360"/>
            </a:xfrm>
            <a:custGeom>
              <a:avLst/>
              <a:gdLst/>
              <a:ahLst/>
              <a:cxnLst/>
              <a:rect r="r" b="b" t="t" l="l"/>
              <a:pathLst>
                <a:path h="9753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144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 interactive Power BI dashboards for decision-making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133856"/>
            <a:chOff x="0" y="0"/>
            <a:chExt cx="21945600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097280"/>
            <a:ext cx="16459200" cy="658368"/>
            <a:chOff x="0" y="0"/>
            <a:chExt cx="21945600" cy="877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Analytics Pipeline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39063" y="3562607"/>
            <a:ext cx="436883" cy="98555"/>
            <a:chOff x="0" y="0"/>
            <a:chExt cx="582511" cy="1314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2549" cy="131445"/>
            </a:xfrm>
            <a:custGeom>
              <a:avLst/>
              <a:gdLst/>
              <a:ahLst/>
              <a:cxnLst/>
              <a:rect r="r" b="b" t="t" l="l"/>
              <a:pathLst>
                <a:path h="131445" w="582549">
                  <a:moveTo>
                    <a:pt x="0" y="0"/>
                  </a:moveTo>
                  <a:lnTo>
                    <a:pt x="582549" y="0"/>
                  </a:lnTo>
                  <a:lnTo>
                    <a:pt x="5825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94A3B8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9590" y="2358390"/>
            <a:ext cx="2141220" cy="2506980"/>
            <a:chOff x="0" y="0"/>
            <a:chExt cx="2854960" cy="3342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549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8549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2606675" y="0"/>
                  </a:lnTo>
                  <a:cubicBezTo>
                    <a:pt x="2743835" y="0"/>
                    <a:pt x="2854960" y="111125"/>
                    <a:pt x="2854960" y="248285"/>
                  </a:cubicBezTo>
                  <a:lnTo>
                    <a:pt x="2854960" y="3094355"/>
                  </a:lnTo>
                  <a:cubicBezTo>
                    <a:pt x="2854960" y="3231515"/>
                    <a:pt x="2743835" y="3342640"/>
                    <a:pt x="2606675" y="3342640"/>
                  </a:cubicBezTo>
                  <a:lnTo>
                    <a:pt x="248285" y="3342640"/>
                  </a:lnTo>
                  <a:cubicBezTo>
                    <a:pt x="111125" y="3342640"/>
                    <a:pt x="0" y="3231515"/>
                    <a:pt x="0" y="3094355"/>
                  </a:cubicBezTo>
                  <a:close/>
                </a:path>
              </a:pathLst>
            </a:custGeom>
            <a:solidFill>
              <a:srgbClr val="0A2540"/>
            </a:solidFill>
            <a:ln w="381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153663" y="3562607"/>
            <a:ext cx="436883" cy="98555"/>
            <a:chOff x="0" y="0"/>
            <a:chExt cx="582511" cy="1314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2549" cy="131445"/>
            </a:xfrm>
            <a:custGeom>
              <a:avLst/>
              <a:gdLst/>
              <a:ahLst/>
              <a:cxnLst/>
              <a:rect r="r" b="b" t="t" l="l"/>
              <a:pathLst>
                <a:path h="131445" w="582549">
                  <a:moveTo>
                    <a:pt x="0" y="0"/>
                  </a:moveTo>
                  <a:lnTo>
                    <a:pt x="582549" y="0"/>
                  </a:lnTo>
                  <a:lnTo>
                    <a:pt x="5825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94A3B8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044190" y="2358390"/>
            <a:ext cx="2141220" cy="2506980"/>
            <a:chOff x="0" y="0"/>
            <a:chExt cx="2854960" cy="3342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49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8549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2606675" y="0"/>
                  </a:lnTo>
                  <a:cubicBezTo>
                    <a:pt x="2743835" y="0"/>
                    <a:pt x="2854960" y="111125"/>
                    <a:pt x="2854960" y="248285"/>
                  </a:cubicBezTo>
                  <a:lnTo>
                    <a:pt x="2854960" y="3094355"/>
                  </a:lnTo>
                  <a:cubicBezTo>
                    <a:pt x="2854960" y="3231515"/>
                    <a:pt x="2743835" y="3342640"/>
                    <a:pt x="2606675" y="3342640"/>
                  </a:cubicBezTo>
                  <a:lnTo>
                    <a:pt x="248285" y="3342640"/>
                  </a:lnTo>
                  <a:cubicBezTo>
                    <a:pt x="111125" y="3342640"/>
                    <a:pt x="0" y="3231515"/>
                    <a:pt x="0" y="3094355"/>
                  </a:cubicBezTo>
                  <a:close/>
                </a:path>
              </a:pathLst>
            </a:custGeom>
            <a:solidFill>
              <a:srgbClr val="0A2540"/>
            </a:solid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68263" y="3562607"/>
            <a:ext cx="436883" cy="98555"/>
            <a:chOff x="0" y="0"/>
            <a:chExt cx="582511" cy="1314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2549" cy="131445"/>
            </a:xfrm>
            <a:custGeom>
              <a:avLst/>
              <a:gdLst/>
              <a:ahLst/>
              <a:cxnLst/>
              <a:rect r="r" b="b" t="t" l="l"/>
              <a:pathLst>
                <a:path h="131445" w="582549">
                  <a:moveTo>
                    <a:pt x="0" y="0"/>
                  </a:moveTo>
                  <a:lnTo>
                    <a:pt x="582549" y="0"/>
                  </a:lnTo>
                  <a:lnTo>
                    <a:pt x="5825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94A3B8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558790" y="2358390"/>
            <a:ext cx="2141220" cy="2506980"/>
            <a:chOff x="0" y="0"/>
            <a:chExt cx="2854960" cy="3342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49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8549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2606675" y="0"/>
                  </a:lnTo>
                  <a:cubicBezTo>
                    <a:pt x="2743835" y="0"/>
                    <a:pt x="2854960" y="111125"/>
                    <a:pt x="2854960" y="248285"/>
                  </a:cubicBezTo>
                  <a:lnTo>
                    <a:pt x="2854960" y="3094355"/>
                  </a:lnTo>
                  <a:cubicBezTo>
                    <a:pt x="2854960" y="3231515"/>
                    <a:pt x="2743835" y="3342640"/>
                    <a:pt x="2606675" y="3342640"/>
                  </a:cubicBezTo>
                  <a:lnTo>
                    <a:pt x="248285" y="3342640"/>
                  </a:lnTo>
                  <a:cubicBezTo>
                    <a:pt x="111125" y="3342640"/>
                    <a:pt x="0" y="3231515"/>
                    <a:pt x="0" y="3094355"/>
                  </a:cubicBezTo>
                  <a:close/>
                </a:path>
              </a:pathLst>
            </a:custGeom>
            <a:solidFill>
              <a:srgbClr val="0A2540"/>
            </a:solidFill>
            <a:ln w="381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182863" y="3562607"/>
            <a:ext cx="436883" cy="98555"/>
            <a:chOff x="0" y="0"/>
            <a:chExt cx="582511" cy="1314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2549" cy="131445"/>
            </a:xfrm>
            <a:custGeom>
              <a:avLst/>
              <a:gdLst/>
              <a:ahLst/>
              <a:cxnLst/>
              <a:rect r="r" b="b" t="t" l="l"/>
              <a:pathLst>
                <a:path h="131445" w="582549">
                  <a:moveTo>
                    <a:pt x="0" y="0"/>
                  </a:moveTo>
                  <a:lnTo>
                    <a:pt x="582549" y="0"/>
                  </a:lnTo>
                  <a:lnTo>
                    <a:pt x="5825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94A3B8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073390" y="2358390"/>
            <a:ext cx="2141220" cy="2506980"/>
            <a:chOff x="0" y="0"/>
            <a:chExt cx="2854960" cy="334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49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8549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2606675" y="0"/>
                  </a:lnTo>
                  <a:cubicBezTo>
                    <a:pt x="2743835" y="0"/>
                    <a:pt x="2854960" y="111125"/>
                    <a:pt x="2854960" y="248285"/>
                  </a:cubicBezTo>
                  <a:lnTo>
                    <a:pt x="2854960" y="3094355"/>
                  </a:lnTo>
                  <a:cubicBezTo>
                    <a:pt x="2854960" y="3231515"/>
                    <a:pt x="2743835" y="3342640"/>
                    <a:pt x="2606675" y="3342640"/>
                  </a:cubicBezTo>
                  <a:lnTo>
                    <a:pt x="248285" y="3342640"/>
                  </a:lnTo>
                  <a:cubicBezTo>
                    <a:pt x="111125" y="3342640"/>
                    <a:pt x="0" y="3231515"/>
                    <a:pt x="0" y="3094355"/>
                  </a:cubicBezTo>
                  <a:close/>
                </a:path>
              </a:pathLst>
            </a:custGeom>
            <a:solidFill>
              <a:srgbClr val="0A2540"/>
            </a:solid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697463" y="3562607"/>
            <a:ext cx="436883" cy="98555"/>
            <a:chOff x="0" y="0"/>
            <a:chExt cx="582511" cy="1314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2549" cy="131445"/>
            </a:xfrm>
            <a:custGeom>
              <a:avLst/>
              <a:gdLst/>
              <a:ahLst/>
              <a:cxnLst/>
              <a:rect r="r" b="b" t="t" l="l"/>
              <a:pathLst>
                <a:path h="131445" w="582549">
                  <a:moveTo>
                    <a:pt x="0" y="0"/>
                  </a:moveTo>
                  <a:lnTo>
                    <a:pt x="582549" y="0"/>
                  </a:lnTo>
                  <a:lnTo>
                    <a:pt x="5825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94A3B8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587990" y="2358390"/>
            <a:ext cx="2141220" cy="2506980"/>
            <a:chOff x="0" y="0"/>
            <a:chExt cx="2854960" cy="3342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549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8549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2606675" y="0"/>
                  </a:lnTo>
                  <a:cubicBezTo>
                    <a:pt x="2743835" y="0"/>
                    <a:pt x="2854960" y="111125"/>
                    <a:pt x="2854960" y="248285"/>
                  </a:cubicBezTo>
                  <a:lnTo>
                    <a:pt x="2854960" y="3094355"/>
                  </a:lnTo>
                  <a:cubicBezTo>
                    <a:pt x="2854960" y="3231515"/>
                    <a:pt x="2743835" y="3342640"/>
                    <a:pt x="2606675" y="3342640"/>
                  </a:cubicBezTo>
                  <a:lnTo>
                    <a:pt x="248285" y="3342640"/>
                  </a:lnTo>
                  <a:cubicBezTo>
                    <a:pt x="111125" y="3342640"/>
                    <a:pt x="0" y="3231515"/>
                    <a:pt x="0" y="3094355"/>
                  </a:cubicBezTo>
                  <a:close/>
                </a:path>
              </a:pathLst>
            </a:custGeom>
            <a:solidFill>
              <a:srgbClr val="0A2540"/>
            </a:solidFill>
            <a:ln w="381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212063" y="3562607"/>
            <a:ext cx="436883" cy="98555"/>
            <a:chOff x="0" y="0"/>
            <a:chExt cx="582511" cy="13140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2549" cy="131445"/>
            </a:xfrm>
            <a:custGeom>
              <a:avLst/>
              <a:gdLst/>
              <a:ahLst/>
              <a:cxnLst/>
              <a:rect r="r" b="b" t="t" l="l"/>
              <a:pathLst>
                <a:path h="131445" w="582549">
                  <a:moveTo>
                    <a:pt x="0" y="0"/>
                  </a:moveTo>
                  <a:lnTo>
                    <a:pt x="582549" y="0"/>
                  </a:lnTo>
                  <a:lnTo>
                    <a:pt x="5825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94A3B8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102590" y="2358390"/>
            <a:ext cx="2141220" cy="2506980"/>
            <a:chOff x="0" y="0"/>
            <a:chExt cx="2854960" cy="3342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549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8549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2606675" y="0"/>
                  </a:lnTo>
                  <a:cubicBezTo>
                    <a:pt x="2743835" y="0"/>
                    <a:pt x="2854960" y="111125"/>
                    <a:pt x="2854960" y="248285"/>
                  </a:cubicBezTo>
                  <a:lnTo>
                    <a:pt x="2854960" y="3094355"/>
                  </a:lnTo>
                  <a:cubicBezTo>
                    <a:pt x="2854960" y="3231515"/>
                    <a:pt x="2743835" y="3342640"/>
                    <a:pt x="2606675" y="3342640"/>
                  </a:cubicBezTo>
                  <a:lnTo>
                    <a:pt x="248285" y="3342640"/>
                  </a:lnTo>
                  <a:cubicBezTo>
                    <a:pt x="111125" y="3342640"/>
                    <a:pt x="0" y="3231515"/>
                    <a:pt x="0" y="3094355"/>
                  </a:cubicBezTo>
                  <a:close/>
                </a:path>
              </a:pathLst>
            </a:custGeom>
            <a:solidFill>
              <a:srgbClr val="0A2540"/>
            </a:solid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617190" y="2358390"/>
            <a:ext cx="2141220" cy="2506980"/>
            <a:chOff x="0" y="0"/>
            <a:chExt cx="2854960" cy="3342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549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8549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2606675" y="0"/>
                  </a:lnTo>
                  <a:cubicBezTo>
                    <a:pt x="2743835" y="0"/>
                    <a:pt x="2854960" y="111125"/>
                    <a:pt x="2854960" y="248285"/>
                  </a:cubicBezTo>
                  <a:lnTo>
                    <a:pt x="2854960" y="3094355"/>
                  </a:lnTo>
                  <a:cubicBezTo>
                    <a:pt x="2854960" y="3231515"/>
                    <a:pt x="2743835" y="3342640"/>
                    <a:pt x="2606675" y="3342640"/>
                  </a:cubicBezTo>
                  <a:lnTo>
                    <a:pt x="248285" y="3342640"/>
                  </a:lnTo>
                  <a:cubicBezTo>
                    <a:pt x="111125" y="3342640"/>
                    <a:pt x="0" y="3231515"/>
                    <a:pt x="0" y="3094355"/>
                  </a:cubicBezTo>
                  <a:close/>
                </a:path>
              </a:pathLst>
            </a:custGeom>
            <a:solidFill>
              <a:srgbClr val="0A2540"/>
            </a:solidFill>
            <a:ln w="381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31471" y="5016503"/>
            <a:ext cx="537467" cy="537467"/>
            <a:chOff x="0" y="0"/>
            <a:chExt cx="716623" cy="7166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44168" y="5029200"/>
            <a:ext cx="512064" cy="512064"/>
            <a:chOff x="0" y="0"/>
            <a:chExt cx="68275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846071" y="5016503"/>
            <a:ext cx="537467" cy="537467"/>
            <a:chOff x="0" y="0"/>
            <a:chExt cx="716623" cy="7166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3858768" y="5029200"/>
            <a:ext cx="512064" cy="512064"/>
            <a:chOff x="0" y="0"/>
            <a:chExt cx="682752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360671" y="5016503"/>
            <a:ext cx="537467" cy="537467"/>
            <a:chOff x="0" y="0"/>
            <a:chExt cx="716623" cy="7166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373368" y="5029200"/>
            <a:ext cx="512064" cy="512064"/>
            <a:chOff x="0" y="0"/>
            <a:chExt cx="682752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875271" y="5016503"/>
            <a:ext cx="537467" cy="537467"/>
            <a:chOff x="0" y="0"/>
            <a:chExt cx="716623" cy="71662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887968" y="5029200"/>
            <a:ext cx="512064" cy="512064"/>
            <a:chOff x="0" y="0"/>
            <a:chExt cx="682752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389871" y="5016503"/>
            <a:ext cx="537467" cy="537467"/>
            <a:chOff x="0" y="0"/>
            <a:chExt cx="716623" cy="7166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402568" y="5029200"/>
            <a:ext cx="512064" cy="512064"/>
            <a:chOff x="0" y="0"/>
            <a:chExt cx="682752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904471" y="5016503"/>
            <a:ext cx="537467" cy="537467"/>
            <a:chOff x="0" y="0"/>
            <a:chExt cx="716623" cy="71662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3917168" y="5029200"/>
            <a:ext cx="512064" cy="512064"/>
            <a:chOff x="0" y="0"/>
            <a:chExt cx="682752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419071" y="5016503"/>
            <a:ext cx="537467" cy="537467"/>
            <a:chOff x="0" y="0"/>
            <a:chExt cx="716623" cy="71662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6431768" y="5029200"/>
            <a:ext cx="512064" cy="512064"/>
            <a:chOff x="0" y="0"/>
            <a:chExt cx="682752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" y="5852160"/>
            <a:ext cx="16459200" cy="640080"/>
            <a:chOff x="0" y="0"/>
            <a:chExt cx="2194560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Integrated data pipeline: from raw CSV ingestion to executive-ready interactive dashboards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50343" y="6662423"/>
            <a:ext cx="3317243" cy="3042923"/>
            <a:chOff x="0" y="0"/>
            <a:chExt cx="4422991" cy="40572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22902" cy="4057142"/>
            </a:xfrm>
            <a:custGeom>
              <a:avLst/>
              <a:gdLst/>
              <a:ahLst/>
              <a:cxnLst/>
              <a:rect r="r" b="b" t="t" l="l"/>
              <a:pathLst>
                <a:path h="4057142" w="442290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177030" y="0"/>
                  </a:lnTo>
                  <a:cubicBezTo>
                    <a:pt x="4312793" y="0"/>
                    <a:pt x="4422902" y="110109"/>
                    <a:pt x="4422902" y="245872"/>
                  </a:cubicBezTo>
                  <a:lnTo>
                    <a:pt x="4422902" y="3811270"/>
                  </a:lnTo>
                  <a:cubicBezTo>
                    <a:pt x="4422902" y="3947033"/>
                    <a:pt x="4312793" y="4057142"/>
                    <a:pt x="417703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8F4FD"/>
            </a:solidFill>
            <a:ln w="25400" cap="sq">
              <a:solidFill>
                <a:srgbClr val="D1E9F7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63040" y="6858000"/>
            <a:ext cx="3291840" cy="1316736"/>
            <a:chOff x="0" y="0"/>
            <a:chExt cx="4389120" cy="17556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89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38912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63040" y="8193024"/>
            <a:ext cx="3291840" cy="1280160"/>
            <a:chOff x="0" y="0"/>
            <a:chExt cx="4389120" cy="17068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89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3891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Integrated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473703" y="6662423"/>
            <a:ext cx="3317243" cy="3042923"/>
            <a:chOff x="0" y="0"/>
            <a:chExt cx="4422991" cy="405723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22902" cy="4057142"/>
            </a:xfrm>
            <a:custGeom>
              <a:avLst/>
              <a:gdLst/>
              <a:ahLst/>
              <a:cxnLst/>
              <a:rect r="r" b="b" t="t" l="l"/>
              <a:pathLst>
                <a:path h="4057142" w="442290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177030" y="0"/>
                  </a:lnTo>
                  <a:cubicBezTo>
                    <a:pt x="4312793" y="0"/>
                    <a:pt x="4422902" y="110109"/>
                    <a:pt x="4422902" y="245872"/>
                  </a:cubicBezTo>
                  <a:lnTo>
                    <a:pt x="4422902" y="3811270"/>
                  </a:lnTo>
                  <a:cubicBezTo>
                    <a:pt x="4422902" y="3947033"/>
                    <a:pt x="4312793" y="4057142"/>
                    <a:pt x="417703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8F4FD"/>
            </a:solidFill>
            <a:ln w="25400" cap="sq">
              <a:solidFill>
                <a:srgbClr val="D1E9F7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5486400" y="6858000"/>
            <a:ext cx="3291840" cy="1316736"/>
            <a:chOff x="0" y="0"/>
            <a:chExt cx="4389120" cy="17556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389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38912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486400" y="8193024"/>
            <a:ext cx="3291840" cy="1280160"/>
            <a:chOff x="0" y="0"/>
            <a:chExt cx="4389120" cy="17068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389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3891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497063" y="6662423"/>
            <a:ext cx="3317243" cy="3042923"/>
            <a:chOff x="0" y="0"/>
            <a:chExt cx="4422991" cy="40572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22902" cy="4057142"/>
            </a:xfrm>
            <a:custGeom>
              <a:avLst/>
              <a:gdLst/>
              <a:ahLst/>
              <a:cxnLst/>
              <a:rect r="r" b="b" t="t" l="l"/>
              <a:pathLst>
                <a:path h="4057142" w="442290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177030" y="0"/>
                  </a:lnTo>
                  <a:cubicBezTo>
                    <a:pt x="4312793" y="0"/>
                    <a:pt x="4422902" y="110109"/>
                    <a:pt x="4422902" y="245872"/>
                  </a:cubicBezTo>
                  <a:lnTo>
                    <a:pt x="4422902" y="3811270"/>
                  </a:lnTo>
                  <a:cubicBezTo>
                    <a:pt x="4422902" y="3947033"/>
                    <a:pt x="4312793" y="4057142"/>
                    <a:pt x="417703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8F4FD"/>
            </a:solidFill>
            <a:ln w="25400" cap="sq">
              <a:solidFill>
                <a:srgbClr val="D1E9F7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509760" y="6858000"/>
            <a:ext cx="3291840" cy="1316736"/>
            <a:chOff x="0" y="0"/>
            <a:chExt cx="4389120" cy="17556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89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438912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8+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09760" y="8193024"/>
            <a:ext cx="3291840" cy="1280160"/>
            <a:chOff x="0" y="0"/>
            <a:chExt cx="4389120" cy="17068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389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3891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Metrics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520423" y="6662423"/>
            <a:ext cx="3317243" cy="3042923"/>
            <a:chOff x="0" y="0"/>
            <a:chExt cx="4422991" cy="40572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422902" cy="4057142"/>
            </a:xfrm>
            <a:custGeom>
              <a:avLst/>
              <a:gdLst/>
              <a:ahLst/>
              <a:cxnLst/>
              <a:rect r="r" b="b" t="t" l="l"/>
              <a:pathLst>
                <a:path h="4057142" w="442290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177030" y="0"/>
                  </a:lnTo>
                  <a:cubicBezTo>
                    <a:pt x="4312793" y="0"/>
                    <a:pt x="4422902" y="110109"/>
                    <a:pt x="4422902" y="245872"/>
                  </a:cubicBezTo>
                  <a:lnTo>
                    <a:pt x="4422902" y="3811270"/>
                  </a:lnTo>
                  <a:cubicBezTo>
                    <a:pt x="4422902" y="3947033"/>
                    <a:pt x="4312793" y="4057142"/>
                    <a:pt x="417703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8F4FD"/>
            </a:solidFill>
            <a:ln w="25400" cap="sq">
              <a:solidFill>
                <a:srgbClr val="D1E9F7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533120" y="6858000"/>
            <a:ext cx="3291840" cy="1316736"/>
            <a:chOff x="0" y="0"/>
            <a:chExt cx="4389120" cy="17556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389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438912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533120" y="8193024"/>
            <a:ext cx="3291840" cy="1280160"/>
            <a:chOff x="0" y="0"/>
            <a:chExt cx="4389120" cy="17068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389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3891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Indicators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16152" y="2596896"/>
            <a:ext cx="768096" cy="768096"/>
            <a:chOff x="0" y="0"/>
            <a:chExt cx="1024128" cy="1024128"/>
          </a:xfrm>
        </p:grpSpPr>
        <p:sp>
          <p:nvSpPr>
            <p:cNvPr name="Freeform 107" id="107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548640" y="3474720"/>
            <a:ext cx="2103120" cy="548640"/>
            <a:chOff x="0" y="0"/>
            <a:chExt cx="280416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80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Data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48640" y="4023360"/>
            <a:ext cx="2103120" cy="768096"/>
            <a:chOff x="0" y="0"/>
            <a:chExt cx="2804160" cy="102412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804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280416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Datasets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core files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730752" y="2596896"/>
            <a:ext cx="768096" cy="768096"/>
            <a:chOff x="0" y="0"/>
            <a:chExt cx="1024128" cy="1024128"/>
          </a:xfrm>
        </p:grpSpPr>
        <p:sp>
          <p:nvSpPr>
            <p:cNvPr name="Freeform 115" id="11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3063240" y="3474720"/>
            <a:ext cx="2103120" cy="548640"/>
            <a:chOff x="0" y="0"/>
            <a:chExt cx="280416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80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3063240" y="4023360"/>
            <a:ext cx="2103120" cy="768096"/>
            <a:chOff x="0" y="0"/>
            <a:chExt cx="2804160" cy="102412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804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280416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Dedup · Validate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245352" y="2596896"/>
            <a:ext cx="768096" cy="768096"/>
            <a:chOff x="0" y="0"/>
            <a:chExt cx="1024128" cy="1024128"/>
          </a:xfrm>
        </p:grpSpPr>
        <p:sp>
          <p:nvSpPr>
            <p:cNvPr name="Freeform 123" id="123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5577840" y="3474720"/>
            <a:ext cx="2103120" cy="548640"/>
            <a:chOff x="0" y="0"/>
            <a:chExt cx="2804160" cy="7315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280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DB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5577840" y="4023360"/>
            <a:ext cx="2103120" cy="768096"/>
            <a:chOff x="0" y="0"/>
            <a:chExt cx="2804160" cy="102412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804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280416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Fact-Dimension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Schema Design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8759952" y="2596896"/>
            <a:ext cx="768096" cy="768096"/>
            <a:chOff x="0" y="0"/>
            <a:chExt cx="1024128" cy="1024128"/>
          </a:xfrm>
        </p:grpSpPr>
        <p:sp>
          <p:nvSpPr>
            <p:cNvPr name="Freeform 131" id="131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8092440" y="3474720"/>
            <a:ext cx="2103120" cy="548640"/>
            <a:chOff x="0" y="0"/>
            <a:chExt cx="2804160" cy="7315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80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8092440" y="4023360"/>
            <a:ext cx="2103120" cy="768096"/>
            <a:chOff x="0" y="0"/>
            <a:chExt cx="2804160" cy="102412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804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280416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Distribution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Trend Analysis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3789152" y="2596896"/>
            <a:ext cx="768096" cy="768096"/>
            <a:chOff x="0" y="0"/>
            <a:chExt cx="1024128" cy="1024128"/>
          </a:xfrm>
        </p:grpSpPr>
        <p:sp>
          <p:nvSpPr>
            <p:cNvPr name="Freeform 139" id="139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121640" y="3474720"/>
            <a:ext cx="2103120" cy="548640"/>
            <a:chOff x="0" y="0"/>
            <a:chExt cx="2804160" cy="7315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80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3121640" y="4023360"/>
            <a:ext cx="2103120" cy="768096"/>
            <a:chOff x="0" y="0"/>
            <a:chExt cx="2804160" cy="102412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804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280416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4-Page Interactive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274552" y="2596896"/>
            <a:ext cx="768096" cy="768096"/>
            <a:chOff x="0" y="0"/>
            <a:chExt cx="1024128" cy="1024128"/>
          </a:xfrm>
        </p:grpSpPr>
        <p:sp>
          <p:nvSpPr>
            <p:cNvPr name="Freeform 147" id="147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0607040" y="3474720"/>
            <a:ext cx="2103120" cy="548640"/>
            <a:chOff x="0" y="0"/>
            <a:chExt cx="2804160" cy="73152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280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0607040" y="4023360"/>
            <a:ext cx="2103120" cy="768096"/>
            <a:chOff x="0" y="0"/>
            <a:chExt cx="2804160" cy="102412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804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280416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Risk Metrics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6303752" y="2596896"/>
            <a:ext cx="768096" cy="768096"/>
            <a:chOff x="0" y="0"/>
            <a:chExt cx="1024128" cy="1024128"/>
          </a:xfrm>
        </p:grpSpPr>
        <p:sp>
          <p:nvSpPr>
            <p:cNvPr name="Freeform 155" id="15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5636240" y="3474720"/>
            <a:ext cx="2103120" cy="548640"/>
            <a:chOff x="0" y="0"/>
            <a:chExt cx="2804160" cy="73152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280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5636240" y="4023360"/>
            <a:ext cx="2103120" cy="768096"/>
            <a:chOff x="0" y="0"/>
            <a:chExt cx="2804160" cy="102412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804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28575"/>
              <a:ext cx="280416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Business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Recommendations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Integrated Datasets · Comprehensive Mutual Fund Data Ecosystem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48640" y="1920240"/>
          <a:ext cx="17145000" cy="7772400"/>
        </p:xfrm>
        <a:graphic>
          <a:graphicData uri="http://schemas.openxmlformats.org/drawingml/2006/table">
            <a:tbl>
              <a:tblPr/>
              <a:tblGrid>
                <a:gridCol w="4020172"/>
                <a:gridCol w="6925591"/>
                <a:gridCol w="6199237"/>
              </a:tblGrid>
              <a:tr h="863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Columns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fund_master_clean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Master scheme info &amp; metadata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amfi_code, fund_house, category, expense_ratio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nav_history_clean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Historical NAV records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amfi_code, date, nav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investor_transactions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SIP &amp; lump-sum transactions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investor_id, date, type, amount, state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scheme_performance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Return metrics per fund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return_1yr, return_3yr, return_5yr, aum_crore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benchmark_indices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Index benchmark values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date, index_name, close_value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alpha_beta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Risk vs benchmark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amfi_code, alpha, beta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var_cvar_report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Downside risk measures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amfi_code, VaR_95, CVaR_95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50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sip_continuity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SIP gap &amp; continuity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B8D4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investor_id, avg_gap_days, at_risk</a:t>
                      </a:r>
                      <a:endParaRPr lang="en-US" sz="1100"/>
                    </a:p>
                  </a:txBody>
                  <a:tcPr marL="50800" marR="50800" marT="50800" marB="50800" anchor="t">
                    <a:lnL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133856"/>
            <a:chOff x="0" y="0"/>
            <a:chExt cx="21945600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CLEANING &amp; DATABASE DESIGN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097280"/>
            <a:ext cx="16459200" cy="658368"/>
            <a:chOff x="0" y="0"/>
            <a:chExt cx="21945600" cy="877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 Steps · Schema Architecture · Data Quality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1998983"/>
            <a:ext cx="8255003" cy="7889243"/>
            <a:chOff x="0" y="0"/>
            <a:chExt cx="11006671" cy="10518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06710" cy="10519029"/>
            </a:xfrm>
            <a:custGeom>
              <a:avLst/>
              <a:gdLst/>
              <a:ahLst/>
              <a:cxnLst/>
              <a:rect r="r" b="b" t="t" l="l"/>
              <a:pathLst>
                <a:path h="10519029" w="11006710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761980" y="0"/>
                  </a:lnTo>
                  <a:cubicBezTo>
                    <a:pt x="10897108" y="0"/>
                    <a:pt x="11006710" y="109601"/>
                    <a:pt x="11006710" y="244729"/>
                  </a:cubicBezTo>
                  <a:lnTo>
                    <a:pt x="11006710" y="10274300"/>
                  </a:lnTo>
                  <a:cubicBezTo>
                    <a:pt x="11006710" y="10409428"/>
                    <a:pt x="10897108" y="10519029"/>
                    <a:pt x="10761980" y="10519029"/>
                  </a:cubicBezTo>
                  <a:lnTo>
                    <a:pt x="244729" y="10519029"/>
                  </a:lnTo>
                  <a:cubicBezTo>
                    <a:pt x="109601" y="10519029"/>
                    <a:pt x="0" y="10409428"/>
                    <a:pt x="0" y="1027430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194560"/>
            <a:ext cx="7315200" cy="548640"/>
            <a:chOff x="0" y="0"/>
            <a:chExt cx="9753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PREPROCESSING STEPS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1703" y="2949959"/>
            <a:ext cx="720347" cy="574043"/>
            <a:chOff x="0" y="0"/>
            <a:chExt cx="960463" cy="765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374" cy="765302"/>
            </a:xfrm>
            <a:custGeom>
              <a:avLst/>
              <a:gdLst/>
              <a:ahLst/>
              <a:cxnLst/>
              <a:rect r="r" b="b" t="t" l="l"/>
              <a:pathLst>
                <a:path h="765302" w="960374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832866" y="0"/>
                  </a:lnTo>
                  <a:cubicBezTo>
                    <a:pt x="903351" y="0"/>
                    <a:pt x="960374" y="57150"/>
                    <a:pt x="960374" y="127508"/>
                  </a:cubicBezTo>
                  <a:lnTo>
                    <a:pt x="960374" y="637794"/>
                  </a:lnTo>
                  <a:cubicBezTo>
                    <a:pt x="960374" y="708279"/>
                    <a:pt x="903224" y="765302"/>
                    <a:pt x="832866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962656"/>
            <a:ext cx="694944" cy="548640"/>
            <a:chOff x="0" y="0"/>
            <a:chExt cx="926592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292" t="0" r="-5129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265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2926080"/>
            <a:ext cx="6583680" cy="365760"/>
            <a:chOff x="0" y="0"/>
            <a:chExt cx="877824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487680"/>
            </a:xfrm>
            <a:custGeom>
              <a:avLst/>
              <a:gdLst/>
              <a:ahLst/>
              <a:cxnLst/>
              <a:rect r="r" b="b" t="t" l="l"/>
              <a:pathLst>
                <a:path h="487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7782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 Removal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28800" y="3291840"/>
            <a:ext cx="6583680" cy="585216"/>
            <a:chOff x="0" y="0"/>
            <a:chExt cx="877824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778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Eliminated duplicate records across all datasets using Pandas drop_duplicates()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4230119"/>
            <a:ext cx="720347" cy="574043"/>
            <a:chOff x="0" y="0"/>
            <a:chExt cx="960463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0374" cy="765302"/>
            </a:xfrm>
            <a:custGeom>
              <a:avLst/>
              <a:gdLst/>
              <a:ahLst/>
              <a:cxnLst/>
              <a:rect r="r" b="b" t="t" l="l"/>
              <a:pathLst>
                <a:path h="765302" w="960374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832866" y="0"/>
                  </a:lnTo>
                  <a:cubicBezTo>
                    <a:pt x="903351" y="0"/>
                    <a:pt x="960374" y="57150"/>
                    <a:pt x="960374" y="127508"/>
                  </a:cubicBezTo>
                  <a:lnTo>
                    <a:pt x="960374" y="637794"/>
                  </a:lnTo>
                  <a:cubicBezTo>
                    <a:pt x="960374" y="708279"/>
                    <a:pt x="903224" y="765302"/>
                    <a:pt x="832866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4242816"/>
            <a:ext cx="694944" cy="548640"/>
            <a:chOff x="0" y="0"/>
            <a:chExt cx="926592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6592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292" t="0" r="-5129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265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28800" y="4206240"/>
            <a:ext cx="6583680" cy="365760"/>
            <a:chOff x="0" y="0"/>
            <a:chExt cx="8778240" cy="48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0" cy="487680"/>
            </a:xfrm>
            <a:custGeom>
              <a:avLst/>
              <a:gdLst/>
              <a:ahLst/>
              <a:cxnLst/>
              <a:rect r="r" b="b" t="t" l="l"/>
              <a:pathLst>
                <a:path h="487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7782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Values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28800" y="4572000"/>
            <a:ext cx="6583680" cy="585216"/>
            <a:chOff x="0" y="0"/>
            <a:chExt cx="877824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778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Handled NaN values via forward-fill, drop, or mean imputation by column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510279"/>
            <a:ext cx="720347" cy="574043"/>
            <a:chOff x="0" y="0"/>
            <a:chExt cx="960463" cy="7653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0374" cy="765302"/>
            </a:xfrm>
            <a:custGeom>
              <a:avLst/>
              <a:gdLst/>
              <a:ahLst/>
              <a:cxnLst/>
              <a:rect r="r" b="b" t="t" l="l"/>
              <a:pathLst>
                <a:path h="765302" w="960374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832866" y="0"/>
                  </a:lnTo>
                  <a:cubicBezTo>
                    <a:pt x="903351" y="0"/>
                    <a:pt x="960374" y="57150"/>
                    <a:pt x="960374" y="127508"/>
                  </a:cubicBezTo>
                  <a:lnTo>
                    <a:pt x="960374" y="637794"/>
                  </a:lnTo>
                  <a:cubicBezTo>
                    <a:pt x="960374" y="708279"/>
                    <a:pt x="903224" y="765302"/>
                    <a:pt x="832866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" y="5522976"/>
            <a:ext cx="694944" cy="548640"/>
            <a:chOff x="0" y="0"/>
            <a:chExt cx="926592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6592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292" t="0" r="-5129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265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828800" y="5486400"/>
            <a:ext cx="6583680" cy="365760"/>
            <a:chOff x="0" y="0"/>
            <a:chExt cx="8778240" cy="487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78240" cy="487680"/>
            </a:xfrm>
            <a:custGeom>
              <a:avLst/>
              <a:gdLst/>
              <a:ahLst/>
              <a:cxnLst/>
              <a:rect r="r" b="b" t="t" l="l"/>
              <a:pathLst>
                <a:path h="487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87782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 Standardization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828800" y="5852160"/>
            <a:ext cx="6583680" cy="585216"/>
            <a:chOff x="0" y="0"/>
            <a:chExt cx="8778240" cy="780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778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Converted all date fields to consistent datetime64 format for time-series analysis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01703" y="6790439"/>
            <a:ext cx="720347" cy="574043"/>
            <a:chOff x="0" y="0"/>
            <a:chExt cx="960463" cy="7653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0374" cy="765302"/>
            </a:xfrm>
            <a:custGeom>
              <a:avLst/>
              <a:gdLst/>
              <a:ahLst/>
              <a:cxnLst/>
              <a:rect r="r" b="b" t="t" l="l"/>
              <a:pathLst>
                <a:path h="765302" w="960374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832866" y="0"/>
                  </a:lnTo>
                  <a:cubicBezTo>
                    <a:pt x="903351" y="0"/>
                    <a:pt x="960374" y="57150"/>
                    <a:pt x="960374" y="127508"/>
                  </a:cubicBezTo>
                  <a:lnTo>
                    <a:pt x="960374" y="637794"/>
                  </a:lnTo>
                  <a:cubicBezTo>
                    <a:pt x="960374" y="708279"/>
                    <a:pt x="903224" y="765302"/>
                    <a:pt x="832866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6803136"/>
            <a:ext cx="694944" cy="548640"/>
            <a:chOff x="0" y="0"/>
            <a:chExt cx="926592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292" t="0" r="-5129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265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828800" y="6766560"/>
            <a:ext cx="6583680" cy="365760"/>
            <a:chOff x="0" y="0"/>
            <a:chExt cx="8778240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487680"/>
            </a:xfrm>
            <a:custGeom>
              <a:avLst/>
              <a:gdLst/>
              <a:ahLst/>
              <a:cxnLst/>
              <a:rect r="r" b="b" t="t" l="l"/>
              <a:pathLst>
                <a:path h="487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87782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 Validation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28800" y="7132320"/>
            <a:ext cx="6583680" cy="585216"/>
            <a:chOff x="0" y="0"/>
            <a:chExt cx="877824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8778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Ensured correct data types: numeric NAV/amounts, string codes, category fields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1703" y="8070599"/>
            <a:ext cx="720347" cy="574043"/>
            <a:chOff x="0" y="0"/>
            <a:chExt cx="960463" cy="7653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60374" cy="765302"/>
            </a:xfrm>
            <a:custGeom>
              <a:avLst/>
              <a:gdLst/>
              <a:ahLst/>
              <a:cxnLst/>
              <a:rect r="r" b="b" t="t" l="l"/>
              <a:pathLst>
                <a:path h="765302" w="960374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832866" y="0"/>
                  </a:lnTo>
                  <a:cubicBezTo>
                    <a:pt x="903351" y="0"/>
                    <a:pt x="960374" y="57150"/>
                    <a:pt x="960374" y="127508"/>
                  </a:cubicBezTo>
                  <a:lnTo>
                    <a:pt x="960374" y="637794"/>
                  </a:lnTo>
                  <a:cubicBezTo>
                    <a:pt x="960374" y="708279"/>
                    <a:pt x="903224" y="765302"/>
                    <a:pt x="832866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14400" y="8083296"/>
            <a:ext cx="694944" cy="548640"/>
            <a:chOff x="0" y="0"/>
            <a:chExt cx="926592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26592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292" t="0" r="-5129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265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828800" y="8046720"/>
            <a:ext cx="6583680" cy="365760"/>
            <a:chOff x="0" y="0"/>
            <a:chExt cx="8778240" cy="487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78240" cy="487680"/>
            </a:xfrm>
            <a:custGeom>
              <a:avLst/>
              <a:gdLst/>
              <a:ahLst/>
              <a:cxnLst/>
              <a:rect r="r" b="b" t="t" l="l"/>
              <a:pathLst>
                <a:path h="487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7782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AMFI Code Validation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828800" y="8412480"/>
            <a:ext cx="6583680" cy="585216"/>
            <a:chOff x="0" y="0"/>
            <a:chExt cx="8778240" cy="7802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778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Cross-validated AMFI codes across fund_master, NAV, and performance datasets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14183" y="1998983"/>
            <a:ext cx="8437883" cy="7889243"/>
            <a:chOff x="0" y="0"/>
            <a:chExt cx="11250511" cy="1051899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250549" cy="10519029"/>
            </a:xfrm>
            <a:custGeom>
              <a:avLst/>
              <a:gdLst/>
              <a:ahLst/>
              <a:cxnLst/>
              <a:rect r="r" b="b" t="t" l="l"/>
              <a:pathLst>
                <a:path h="10519029" w="11250549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1005820" y="0"/>
                  </a:lnTo>
                  <a:cubicBezTo>
                    <a:pt x="11140948" y="0"/>
                    <a:pt x="11250549" y="109601"/>
                    <a:pt x="11250549" y="244729"/>
                  </a:cubicBezTo>
                  <a:lnTo>
                    <a:pt x="11250549" y="10274300"/>
                  </a:lnTo>
                  <a:cubicBezTo>
                    <a:pt x="11250549" y="10409428"/>
                    <a:pt x="11140948" y="10519029"/>
                    <a:pt x="11005820" y="10519029"/>
                  </a:cubicBezTo>
                  <a:lnTo>
                    <a:pt x="244729" y="10519029"/>
                  </a:lnTo>
                  <a:cubicBezTo>
                    <a:pt x="109601" y="10519029"/>
                    <a:pt x="0" y="10409428"/>
                    <a:pt x="0" y="1027430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692640" y="2194560"/>
            <a:ext cx="7315200" cy="548640"/>
            <a:chOff x="0" y="0"/>
            <a:chExt cx="975360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SQLITE DATABASE SCHEMA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92640" y="2706624"/>
            <a:ext cx="7680960" cy="402336"/>
            <a:chOff x="0" y="0"/>
            <a:chExt cx="10241280" cy="5364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Fact-Dimension Architecture · AMFI Code as Primary Key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77400" y="3313176"/>
            <a:ext cx="2865120" cy="1347216"/>
            <a:chOff x="0" y="0"/>
            <a:chExt cx="3820160" cy="17962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820160" cy="1796288"/>
            </a:xfrm>
            <a:custGeom>
              <a:avLst/>
              <a:gdLst/>
              <a:ahLst/>
              <a:cxnLst/>
              <a:rect r="r" b="b" t="t" l="l"/>
              <a:pathLst>
                <a:path h="1796288" w="3820160">
                  <a:moveTo>
                    <a:pt x="0" y="174625"/>
                  </a:moveTo>
                  <a:cubicBezTo>
                    <a:pt x="0" y="78232"/>
                    <a:pt x="78232" y="0"/>
                    <a:pt x="174625" y="0"/>
                  </a:cubicBezTo>
                  <a:lnTo>
                    <a:pt x="3645535" y="0"/>
                  </a:lnTo>
                  <a:cubicBezTo>
                    <a:pt x="3741928" y="0"/>
                    <a:pt x="3820160" y="78232"/>
                    <a:pt x="3820160" y="174625"/>
                  </a:cubicBezTo>
                  <a:lnTo>
                    <a:pt x="3820160" y="1621663"/>
                  </a:lnTo>
                  <a:cubicBezTo>
                    <a:pt x="3820160" y="1718056"/>
                    <a:pt x="3741928" y="1796288"/>
                    <a:pt x="3645535" y="1796288"/>
                  </a:cubicBezTo>
                  <a:lnTo>
                    <a:pt x="174625" y="1796288"/>
                  </a:lnTo>
                  <a:cubicBezTo>
                    <a:pt x="78232" y="1796288"/>
                    <a:pt x="0" y="1718056"/>
                    <a:pt x="0" y="1621663"/>
                  </a:cubicBezTo>
                  <a:close/>
                </a:path>
              </a:pathLst>
            </a:custGeom>
            <a:solidFill>
              <a:srgbClr val="E8F4FD"/>
            </a:solidFill>
            <a:ln w="3048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716519" y="3352295"/>
            <a:ext cx="720347" cy="427739"/>
            <a:chOff x="0" y="0"/>
            <a:chExt cx="960463" cy="57031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60374" cy="570230"/>
            </a:xfrm>
            <a:custGeom>
              <a:avLst/>
              <a:gdLst/>
              <a:ahLst/>
              <a:cxnLst/>
              <a:rect r="r" b="b" t="t" l="l"/>
              <a:pathLst>
                <a:path h="570230" w="960374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882650" y="0"/>
                  </a:lnTo>
                  <a:cubicBezTo>
                    <a:pt x="925576" y="0"/>
                    <a:pt x="960374" y="34798"/>
                    <a:pt x="960374" y="77724"/>
                  </a:cubicBezTo>
                  <a:lnTo>
                    <a:pt x="960374" y="492506"/>
                  </a:lnTo>
                  <a:cubicBezTo>
                    <a:pt x="960374" y="535432"/>
                    <a:pt x="925576" y="570230"/>
                    <a:pt x="882650" y="570230"/>
                  </a:cubicBezTo>
                  <a:lnTo>
                    <a:pt x="77724" y="570230"/>
                  </a:lnTo>
                  <a:cubicBezTo>
                    <a:pt x="34798" y="570357"/>
                    <a:pt x="0" y="535559"/>
                    <a:pt x="0" y="492506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729216" y="3364992"/>
            <a:ext cx="694944" cy="402336"/>
            <a:chOff x="0" y="0"/>
            <a:chExt cx="926592" cy="5364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6592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281" t="0" r="-24281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926592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92640" y="3840480"/>
            <a:ext cx="2834640" cy="694944"/>
            <a:chOff x="0" y="0"/>
            <a:chExt cx="3779520" cy="9265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fund_master_clean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786360" y="3313176"/>
            <a:ext cx="2865120" cy="1347216"/>
            <a:chOff x="0" y="0"/>
            <a:chExt cx="3820160" cy="17962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20160" cy="1796288"/>
            </a:xfrm>
            <a:custGeom>
              <a:avLst/>
              <a:gdLst/>
              <a:ahLst/>
              <a:cxnLst/>
              <a:rect r="r" b="b" t="t" l="l"/>
              <a:pathLst>
                <a:path h="1796288" w="3820160">
                  <a:moveTo>
                    <a:pt x="0" y="174625"/>
                  </a:moveTo>
                  <a:cubicBezTo>
                    <a:pt x="0" y="78232"/>
                    <a:pt x="78232" y="0"/>
                    <a:pt x="174625" y="0"/>
                  </a:cubicBezTo>
                  <a:lnTo>
                    <a:pt x="3645535" y="0"/>
                  </a:lnTo>
                  <a:cubicBezTo>
                    <a:pt x="3741928" y="0"/>
                    <a:pt x="3820160" y="78232"/>
                    <a:pt x="3820160" y="174625"/>
                  </a:cubicBezTo>
                  <a:lnTo>
                    <a:pt x="3820160" y="1621663"/>
                  </a:lnTo>
                  <a:cubicBezTo>
                    <a:pt x="3820160" y="1718056"/>
                    <a:pt x="3741928" y="1796288"/>
                    <a:pt x="3645535" y="1796288"/>
                  </a:cubicBezTo>
                  <a:lnTo>
                    <a:pt x="174625" y="1796288"/>
                  </a:lnTo>
                  <a:cubicBezTo>
                    <a:pt x="78232" y="1796288"/>
                    <a:pt x="0" y="1718056"/>
                    <a:pt x="0" y="1621663"/>
                  </a:cubicBezTo>
                  <a:close/>
                </a:path>
              </a:pathLst>
            </a:custGeom>
            <a:solidFill>
              <a:srgbClr val="FFF8E7"/>
            </a:solidFill>
            <a:ln w="3048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825479" y="3352295"/>
            <a:ext cx="720347" cy="427739"/>
            <a:chOff x="0" y="0"/>
            <a:chExt cx="960463" cy="57031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60374" cy="570230"/>
            </a:xfrm>
            <a:custGeom>
              <a:avLst/>
              <a:gdLst/>
              <a:ahLst/>
              <a:cxnLst/>
              <a:rect r="r" b="b" t="t" l="l"/>
              <a:pathLst>
                <a:path h="570230" w="960374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882650" y="0"/>
                  </a:lnTo>
                  <a:cubicBezTo>
                    <a:pt x="925576" y="0"/>
                    <a:pt x="960374" y="34798"/>
                    <a:pt x="960374" y="77724"/>
                  </a:cubicBezTo>
                  <a:lnTo>
                    <a:pt x="960374" y="492506"/>
                  </a:lnTo>
                  <a:cubicBezTo>
                    <a:pt x="960374" y="535432"/>
                    <a:pt x="925576" y="570230"/>
                    <a:pt x="882650" y="570230"/>
                  </a:cubicBezTo>
                  <a:lnTo>
                    <a:pt x="77724" y="570230"/>
                  </a:lnTo>
                  <a:cubicBezTo>
                    <a:pt x="34798" y="570357"/>
                    <a:pt x="0" y="535559"/>
                    <a:pt x="0" y="492506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2838176" y="3364992"/>
            <a:ext cx="694944" cy="402336"/>
            <a:chOff x="0" y="0"/>
            <a:chExt cx="926592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26592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281" t="0" r="-24281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926592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801600" y="3840480"/>
            <a:ext cx="2834640" cy="694944"/>
            <a:chOff x="0" y="0"/>
            <a:chExt cx="377952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nav_history_clean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77400" y="5105400"/>
            <a:ext cx="2865120" cy="1347216"/>
            <a:chOff x="0" y="0"/>
            <a:chExt cx="3820160" cy="17962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820160" cy="1796288"/>
            </a:xfrm>
            <a:custGeom>
              <a:avLst/>
              <a:gdLst/>
              <a:ahLst/>
              <a:cxnLst/>
              <a:rect r="r" b="b" t="t" l="l"/>
              <a:pathLst>
                <a:path h="1796288" w="3820160">
                  <a:moveTo>
                    <a:pt x="0" y="174625"/>
                  </a:moveTo>
                  <a:cubicBezTo>
                    <a:pt x="0" y="78232"/>
                    <a:pt x="78232" y="0"/>
                    <a:pt x="174625" y="0"/>
                  </a:cubicBezTo>
                  <a:lnTo>
                    <a:pt x="3645535" y="0"/>
                  </a:lnTo>
                  <a:cubicBezTo>
                    <a:pt x="3741928" y="0"/>
                    <a:pt x="3820160" y="78232"/>
                    <a:pt x="3820160" y="174625"/>
                  </a:cubicBezTo>
                  <a:lnTo>
                    <a:pt x="3820160" y="1621663"/>
                  </a:lnTo>
                  <a:cubicBezTo>
                    <a:pt x="3820160" y="1718056"/>
                    <a:pt x="3741928" y="1796288"/>
                    <a:pt x="3645535" y="1796288"/>
                  </a:cubicBezTo>
                  <a:lnTo>
                    <a:pt x="174625" y="1796288"/>
                  </a:lnTo>
                  <a:cubicBezTo>
                    <a:pt x="78232" y="1796288"/>
                    <a:pt x="0" y="1718056"/>
                    <a:pt x="0" y="1621663"/>
                  </a:cubicBezTo>
                  <a:close/>
                </a:path>
              </a:pathLst>
            </a:custGeom>
            <a:solidFill>
              <a:srgbClr val="FFF8E7"/>
            </a:solidFill>
            <a:ln w="3048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716519" y="5144519"/>
            <a:ext cx="720347" cy="427739"/>
            <a:chOff x="0" y="0"/>
            <a:chExt cx="960463" cy="57031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60374" cy="570230"/>
            </a:xfrm>
            <a:custGeom>
              <a:avLst/>
              <a:gdLst/>
              <a:ahLst/>
              <a:cxnLst/>
              <a:rect r="r" b="b" t="t" l="l"/>
              <a:pathLst>
                <a:path h="570230" w="960374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882650" y="0"/>
                  </a:lnTo>
                  <a:cubicBezTo>
                    <a:pt x="925576" y="0"/>
                    <a:pt x="960374" y="34798"/>
                    <a:pt x="960374" y="77724"/>
                  </a:cubicBezTo>
                  <a:lnTo>
                    <a:pt x="960374" y="492506"/>
                  </a:lnTo>
                  <a:cubicBezTo>
                    <a:pt x="960374" y="535432"/>
                    <a:pt x="925576" y="570230"/>
                    <a:pt x="882650" y="570230"/>
                  </a:cubicBezTo>
                  <a:lnTo>
                    <a:pt x="77724" y="570230"/>
                  </a:lnTo>
                  <a:cubicBezTo>
                    <a:pt x="34798" y="570357"/>
                    <a:pt x="0" y="535559"/>
                    <a:pt x="0" y="492506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9729216" y="5157216"/>
            <a:ext cx="694944" cy="402336"/>
            <a:chOff x="0" y="0"/>
            <a:chExt cx="926592" cy="5364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26592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281" t="0" r="-24281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926592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692640" y="5632704"/>
            <a:ext cx="2834640" cy="694944"/>
            <a:chOff x="0" y="0"/>
            <a:chExt cx="3779520" cy="92659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investor_transactions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786360" y="5105400"/>
            <a:ext cx="2865120" cy="1347216"/>
            <a:chOff x="0" y="0"/>
            <a:chExt cx="3820160" cy="179628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820160" cy="1796288"/>
            </a:xfrm>
            <a:custGeom>
              <a:avLst/>
              <a:gdLst/>
              <a:ahLst/>
              <a:cxnLst/>
              <a:rect r="r" b="b" t="t" l="l"/>
              <a:pathLst>
                <a:path h="1796288" w="3820160">
                  <a:moveTo>
                    <a:pt x="0" y="174625"/>
                  </a:moveTo>
                  <a:cubicBezTo>
                    <a:pt x="0" y="78232"/>
                    <a:pt x="78232" y="0"/>
                    <a:pt x="174625" y="0"/>
                  </a:cubicBezTo>
                  <a:lnTo>
                    <a:pt x="3645535" y="0"/>
                  </a:lnTo>
                  <a:cubicBezTo>
                    <a:pt x="3741928" y="0"/>
                    <a:pt x="3820160" y="78232"/>
                    <a:pt x="3820160" y="174625"/>
                  </a:cubicBezTo>
                  <a:lnTo>
                    <a:pt x="3820160" y="1621663"/>
                  </a:lnTo>
                  <a:cubicBezTo>
                    <a:pt x="3820160" y="1718056"/>
                    <a:pt x="3741928" y="1796288"/>
                    <a:pt x="3645535" y="1796288"/>
                  </a:cubicBezTo>
                  <a:lnTo>
                    <a:pt x="174625" y="1796288"/>
                  </a:lnTo>
                  <a:cubicBezTo>
                    <a:pt x="78232" y="1796288"/>
                    <a:pt x="0" y="1718056"/>
                    <a:pt x="0" y="1621663"/>
                  </a:cubicBezTo>
                  <a:close/>
                </a:path>
              </a:pathLst>
            </a:custGeom>
            <a:solidFill>
              <a:srgbClr val="FFF8E7"/>
            </a:solidFill>
            <a:ln w="3048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825479" y="5144519"/>
            <a:ext cx="720347" cy="427739"/>
            <a:chOff x="0" y="0"/>
            <a:chExt cx="960463" cy="57031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60374" cy="570230"/>
            </a:xfrm>
            <a:custGeom>
              <a:avLst/>
              <a:gdLst/>
              <a:ahLst/>
              <a:cxnLst/>
              <a:rect r="r" b="b" t="t" l="l"/>
              <a:pathLst>
                <a:path h="570230" w="960374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882650" y="0"/>
                  </a:lnTo>
                  <a:cubicBezTo>
                    <a:pt x="925576" y="0"/>
                    <a:pt x="960374" y="34798"/>
                    <a:pt x="960374" y="77724"/>
                  </a:cubicBezTo>
                  <a:lnTo>
                    <a:pt x="960374" y="492506"/>
                  </a:lnTo>
                  <a:cubicBezTo>
                    <a:pt x="960374" y="535432"/>
                    <a:pt x="925576" y="570230"/>
                    <a:pt x="882650" y="570230"/>
                  </a:cubicBezTo>
                  <a:lnTo>
                    <a:pt x="77724" y="570230"/>
                  </a:lnTo>
                  <a:cubicBezTo>
                    <a:pt x="34798" y="570357"/>
                    <a:pt x="0" y="535559"/>
                    <a:pt x="0" y="492506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838176" y="5157216"/>
            <a:ext cx="694944" cy="402336"/>
            <a:chOff x="0" y="0"/>
            <a:chExt cx="926592" cy="53644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26592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281" t="0" r="-24281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926592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801600" y="5632704"/>
            <a:ext cx="2834640" cy="694944"/>
            <a:chOff x="0" y="0"/>
            <a:chExt cx="3779520" cy="9265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scheme_performance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508230" y="3967734"/>
            <a:ext cx="312420" cy="38100"/>
            <a:chOff x="0" y="0"/>
            <a:chExt cx="416560" cy="508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16560" cy="50800"/>
            </a:xfrm>
            <a:custGeom>
              <a:avLst/>
              <a:gdLst/>
              <a:ahLst/>
              <a:cxnLst/>
              <a:rect r="r" b="b" t="t" l="l"/>
              <a:pathLst>
                <a:path h="50800" w="416560">
                  <a:moveTo>
                    <a:pt x="0" y="0"/>
                  </a:moveTo>
                  <a:lnTo>
                    <a:pt x="41656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  <a:ln w="38100" cap="sq">
              <a:solidFill>
                <a:srgbClr val="64748B"/>
              </a:solidFill>
              <a:prstDash val="dash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1081766" y="4626102"/>
            <a:ext cx="38100" cy="513588"/>
            <a:chOff x="0" y="0"/>
            <a:chExt cx="50800" cy="68478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0800" cy="684784"/>
            </a:xfrm>
            <a:custGeom>
              <a:avLst/>
              <a:gdLst/>
              <a:ahLst/>
              <a:cxnLst/>
              <a:rect r="r" b="b" t="t" l="l"/>
              <a:pathLst>
                <a:path h="684784" w="50800">
                  <a:moveTo>
                    <a:pt x="0" y="0"/>
                  </a:moveTo>
                  <a:lnTo>
                    <a:pt x="50800" y="684784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679532" t="0" r="-1679532" b="0"/>
              </a:stretch>
            </a:blipFill>
            <a:ln w="38100" cap="sq">
              <a:solidFill>
                <a:srgbClr val="64748B"/>
              </a:solidFill>
              <a:prstDash val="dash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190726" y="4626102"/>
            <a:ext cx="38100" cy="513588"/>
            <a:chOff x="0" y="0"/>
            <a:chExt cx="50800" cy="6847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0800" cy="684784"/>
            </a:xfrm>
            <a:custGeom>
              <a:avLst/>
              <a:gdLst/>
              <a:ahLst/>
              <a:cxnLst/>
              <a:rect r="r" b="b" t="t" l="l"/>
              <a:pathLst>
                <a:path h="684784" w="50800">
                  <a:moveTo>
                    <a:pt x="0" y="0"/>
                  </a:moveTo>
                  <a:lnTo>
                    <a:pt x="50800" y="684784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679532" t="0" r="-1679532" b="0"/>
              </a:stretch>
            </a:blipFill>
            <a:ln w="38100" cap="sq">
              <a:solidFill>
                <a:srgbClr val="64748B"/>
              </a:solidFill>
              <a:prstDash val="dash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508230" y="5759958"/>
            <a:ext cx="312420" cy="38100"/>
            <a:chOff x="0" y="0"/>
            <a:chExt cx="416560" cy="508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16560" cy="50800"/>
            </a:xfrm>
            <a:custGeom>
              <a:avLst/>
              <a:gdLst/>
              <a:ahLst/>
              <a:cxnLst/>
              <a:rect r="r" b="b" t="t" l="l"/>
              <a:pathLst>
                <a:path h="50800" w="416560">
                  <a:moveTo>
                    <a:pt x="0" y="0"/>
                  </a:moveTo>
                  <a:lnTo>
                    <a:pt x="41656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  <a:ln w="38100" cap="sq">
              <a:solidFill>
                <a:srgbClr val="64748B"/>
              </a:solidFill>
              <a:prstDash val="dash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9692640" y="6583680"/>
            <a:ext cx="7680960" cy="512064"/>
            <a:chOff x="0" y="0"/>
            <a:chExt cx="10241280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Primary Key: AMFI Code links all tables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692640" y="7132320"/>
            <a:ext cx="7680960" cy="438912"/>
            <a:chOff x="0" y="0"/>
            <a:chExt cx="10241280" cy="58521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Cleaned Output Files: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899399" y="7668263"/>
            <a:ext cx="208283" cy="208283"/>
            <a:chOff x="0" y="0"/>
            <a:chExt cx="277711" cy="27771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277856" y="7589520"/>
            <a:ext cx="7132320" cy="512064"/>
            <a:chOff x="0" y="0"/>
            <a:chExt cx="9509760" cy="6827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fund_master_clean.csv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899399" y="8216903"/>
            <a:ext cx="208283" cy="208283"/>
            <a:chOff x="0" y="0"/>
            <a:chExt cx="277711" cy="27771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0277856" y="8138160"/>
            <a:ext cx="7132320" cy="512064"/>
            <a:chOff x="0" y="0"/>
            <a:chExt cx="9509760" cy="68275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nav_history_clean.csv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899399" y="8765543"/>
            <a:ext cx="208283" cy="208283"/>
            <a:chOff x="0" y="0"/>
            <a:chExt cx="277711" cy="27771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10277856" y="8686800"/>
            <a:ext cx="7132320" cy="512064"/>
            <a:chOff x="0" y="0"/>
            <a:chExt cx="9509760" cy="68275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investor_transactions_clean.csv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9899399" y="9314183"/>
            <a:ext cx="208283" cy="208283"/>
            <a:chOff x="0" y="0"/>
            <a:chExt cx="277711" cy="277711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49" id="149"/>
          <p:cNvGrpSpPr/>
          <p:nvPr/>
        </p:nvGrpSpPr>
        <p:grpSpPr>
          <a:xfrm rot="0">
            <a:off x="10277856" y="9235440"/>
            <a:ext cx="7132320" cy="512064"/>
            <a:chOff x="0" y="0"/>
            <a:chExt cx="9509760" cy="68275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scheme_performance_clean.csv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EXPLORATORY DATA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 Distribution · Demographics · Geography · SIP Trends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8288" y="1261872"/>
            <a:ext cx="6803136" cy="6254496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43600" y="1280160"/>
            <a:ext cx="6583680" cy="621792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04320" y="1280160"/>
            <a:ext cx="6583680" cy="621792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535943" y="7156199"/>
            <a:ext cx="17216123" cy="2860043"/>
            <a:chOff x="0" y="0"/>
            <a:chExt cx="22954831" cy="3813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954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95474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22708743" y="0"/>
                  </a:lnTo>
                  <a:cubicBezTo>
                    <a:pt x="22844632" y="0"/>
                    <a:pt x="22954742" y="110109"/>
                    <a:pt x="22954742" y="245999"/>
                  </a:cubicBezTo>
                  <a:lnTo>
                    <a:pt x="22954742" y="3567303"/>
                  </a:lnTo>
                  <a:cubicBezTo>
                    <a:pt x="22954742" y="3703193"/>
                    <a:pt x="22844632" y="3813302"/>
                    <a:pt x="22708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7315200"/>
            <a:ext cx="16459200" cy="512064"/>
            <a:chOff x="0" y="0"/>
            <a:chExt cx="219456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8052311"/>
            <a:ext cx="244859" cy="244859"/>
            <a:chOff x="0" y="0"/>
            <a:chExt cx="326479" cy="3264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16736" y="7918704"/>
            <a:ext cx="8046720" cy="877824"/>
            <a:chOff x="0" y="0"/>
            <a:chExt cx="10728960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728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Equity funds dominate at ~38% of all schemes; strong investor preference for growth-oriented products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9058151"/>
            <a:ext cx="244859" cy="244859"/>
            <a:chOff x="0" y="0"/>
            <a:chExt cx="326479" cy="3264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16736" y="8924544"/>
            <a:ext cx="8046720" cy="877824"/>
            <a:chOff x="0" y="0"/>
            <a:chExt cx="10728960" cy="1170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728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26–35 age cohort is the largest investor segment (38%), indicating young urban investor participation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97063" y="8052311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912096" y="7918704"/>
            <a:ext cx="8046720" cy="877824"/>
            <a:chOff x="0" y="0"/>
            <a:chExt cx="10728960" cy="11704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728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 inflows grew ~150% from 2019–2024, signaling a structural shift toward systematic investing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97063" y="9058151"/>
            <a:ext cx="244859" cy="244859"/>
            <a:chOff x="0" y="0"/>
            <a:chExt cx="326479" cy="32647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912096" y="8924544"/>
            <a:ext cx="8046720" cy="877824"/>
            <a:chOff x="0" y="0"/>
            <a:chExt cx="1072896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72896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Geographic concentration: Tier-1 cities (Delhi, Mumbai, Bengaluru) account for majority of AUM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133856"/>
            <a:chOff x="0" y="0"/>
            <a:chExt cx="21945600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PERFORMANCE ANALYTICS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097280"/>
            <a:ext cx="16459200" cy="658368"/>
            <a:chOff x="0" y="0"/>
            <a:chExt cx="21945600" cy="877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CAGR · Sharpe · Sortino · Alpha · Beta · Tracking Error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4503" y="1998983"/>
            <a:ext cx="3957323" cy="2711630"/>
            <a:chOff x="0" y="0"/>
            <a:chExt cx="5276431" cy="36155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76342" cy="3615423"/>
            </a:xfrm>
            <a:custGeom>
              <a:avLst/>
              <a:gdLst/>
              <a:ahLst/>
              <a:cxnLst/>
              <a:rect r="r" b="b" t="t" l="l"/>
              <a:pathLst>
                <a:path h="3615423" w="5276342">
                  <a:moveTo>
                    <a:pt x="0" y="233234"/>
                  </a:moveTo>
                  <a:cubicBezTo>
                    <a:pt x="0" y="104395"/>
                    <a:pt x="110109" y="0"/>
                    <a:pt x="245999" y="0"/>
                  </a:cubicBezTo>
                  <a:lnTo>
                    <a:pt x="5030343" y="0"/>
                  </a:lnTo>
                  <a:cubicBezTo>
                    <a:pt x="5166233" y="0"/>
                    <a:pt x="5276342" y="104395"/>
                    <a:pt x="5276342" y="233234"/>
                  </a:cubicBezTo>
                  <a:lnTo>
                    <a:pt x="5276342" y="3382189"/>
                  </a:lnTo>
                  <a:cubicBezTo>
                    <a:pt x="5276342" y="3511028"/>
                    <a:pt x="5166233" y="3615423"/>
                    <a:pt x="5030343" y="3615423"/>
                  </a:cubicBezTo>
                  <a:lnTo>
                    <a:pt x="245999" y="3615423"/>
                  </a:lnTo>
                  <a:cubicBezTo>
                    <a:pt x="110109" y="3615545"/>
                    <a:pt x="0" y="3511028"/>
                    <a:pt x="0" y="338218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2149733"/>
            <a:ext cx="3931920" cy="520170"/>
            <a:chOff x="0" y="0"/>
            <a:chExt cx="5242560" cy="693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42560" cy="693560"/>
            </a:xfrm>
            <a:custGeom>
              <a:avLst/>
              <a:gdLst/>
              <a:ahLst/>
              <a:cxnLst/>
              <a:rect r="r" b="b" t="t" l="l"/>
              <a:pathLst>
                <a:path h="6935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93560"/>
                  </a:lnTo>
                  <a:lnTo>
                    <a:pt x="0" y="693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49" r="0" b="-10002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42560" cy="73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CAGR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7200" y="3744921"/>
            <a:ext cx="3931920" cy="606865"/>
            <a:chOff x="0" y="0"/>
            <a:chExt cx="5242560" cy="8091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2560" cy="809154"/>
            </a:xfrm>
            <a:custGeom>
              <a:avLst/>
              <a:gdLst/>
              <a:ahLst/>
              <a:cxnLst/>
              <a:rect r="r" b="b" t="t" l="l"/>
              <a:pathLst>
                <a:path h="80915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09154"/>
                  </a:lnTo>
                  <a:lnTo>
                    <a:pt x="0" y="809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508" r="0" b="-78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242560" cy="84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5-Year Top Funds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97047" y="1998983"/>
            <a:ext cx="3957323" cy="2711630"/>
            <a:chOff x="0" y="0"/>
            <a:chExt cx="5276431" cy="36155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76342" cy="3615423"/>
            </a:xfrm>
            <a:custGeom>
              <a:avLst/>
              <a:gdLst/>
              <a:ahLst/>
              <a:cxnLst/>
              <a:rect r="r" b="b" t="t" l="l"/>
              <a:pathLst>
                <a:path h="3615423" w="5276342">
                  <a:moveTo>
                    <a:pt x="0" y="233234"/>
                  </a:moveTo>
                  <a:cubicBezTo>
                    <a:pt x="0" y="104395"/>
                    <a:pt x="110109" y="0"/>
                    <a:pt x="245999" y="0"/>
                  </a:cubicBezTo>
                  <a:lnTo>
                    <a:pt x="5030343" y="0"/>
                  </a:lnTo>
                  <a:cubicBezTo>
                    <a:pt x="5166233" y="0"/>
                    <a:pt x="5276342" y="104395"/>
                    <a:pt x="5276342" y="233234"/>
                  </a:cubicBezTo>
                  <a:lnTo>
                    <a:pt x="5276342" y="3382189"/>
                  </a:lnTo>
                  <a:cubicBezTo>
                    <a:pt x="5276342" y="3511028"/>
                    <a:pt x="5166233" y="3615423"/>
                    <a:pt x="5030343" y="3615423"/>
                  </a:cubicBezTo>
                  <a:lnTo>
                    <a:pt x="245999" y="3615423"/>
                  </a:lnTo>
                  <a:cubicBezTo>
                    <a:pt x="110109" y="3615545"/>
                    <a:pt x="0" y="3511028"/>
                    <a:pt x="0" y="338218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809744" y="2149733"/>
            <a:ext cx="3931920" cy="520170"/>
            <a:chOff x="0" y="0"/>
            <a:chExt cx="5242560" cy="693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42560" cy="693560"/>
            </a:xfrm>
            <a:custGeom>
              <a:avLst/>
              <a:gdLst/>
              <a:ahLst/>
              <a:cxnLst/>
              <a:rect r="r" b="b" t="t" l="l"/>
              <a:pathLst>
                <a:path h="6935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93560"/>
                  </a:lnTo>
                  <a:lnTo>
                    <a:pt x="0" y="693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49" r="0" b="-1000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42560" cy="73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Sharpe Ratio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09744" y="3744921"/>
            <a:ext cx="3931920" cy="606865"/>
            <a:chOff x="0" y="0"/>
            <a:chExt cx="5242560" cy="8091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42560" cy="809154"/>
            </a:xfrm>
            <a:custGeom>
              <a:avLst/>
              <a:gdLst/>
              <a:ahLst/>
              <a:cxnLst/>
              <a:rect r="r" b="b" t="t" l="l"/>
              <a:pathLst>
                <a:path h="80915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09154"/>
                  </a:lnTo>
                  <a:lnTo>
                    <a:pt x="0" y="809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508" r="0" b="-7898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242560" cy="84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Risk-Adj. Fund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84341" y="7408752"/>
            <a:ext cx="3957323" cy="2711630"/>
            <a:chOff x="0" y="0"/>
            <a:chExt cx="5276431" cy="36155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76342" cy="3615423"/>
            </a:xfrm>
            <a:custGeom>
              <a:avLst/>
              <a:gdLst/>
              <a:ahLst/>
              <a:cxnLst/>
              <a:rect r="r" b="b" t="t" l="l"/>
              <a:pathLst>
                <a:path h="3615423" w="5276342">
                  <a:moveTo>
                    <a:pt x="0" y="233234"/>
                  </a:moveTo>
                  <a:cubicBezTo>
                    <a:pt x="0" y="104395"/>
                    <a:pt x="110109" y="0"/>
                    <a:pt x="245999" y="0"/>
                  </a:cubicBezTo>
                  <a:lnTo>
                    <a:pt x="5030343" y="0"/>
                  </a:lnTo>
                  <a:cubicBezTo>
                    <a:pt x="5166233" y="0"/>
                    <a:pt x="5276342" y="104395"/>
                    <a:pt x="5276342" y="233234"/>
                  </a:cubicBezTo>
                  <a:lnTo>
                    <a:pt x="5276342" y="3382189"/>
                  </a:lnTo>
                  <a:cubicBezTo>
                    <a:pt x="5276342" y="3511028"/>
                    <a:pt x="5166233" y="3615423"/>
                    <a:pt x="5030343" y="3615423"/>
                  </a:cubicBezTo>
                  <a:lnTo>
                    <a:pt x="245999" y="3615423"/>
                  </a:lnTo>
                  <a:cubicBezTo>
                    <a:pt x="110109" y="3615545"/>
                    <a:pt x="0" y="3511028"/>
                    <a:pt x="0" y="338218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797038" y="7559502"/>
            <a:ext cx="3931920" cy="520170"/>
            <a:chOff x="0" y="0"/>
            <a:chExt cx="5242560" cy="693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42560" cy="693560"/>
            </a:xfrm>
            <a:custGeom>
              <a:avLst/>
              <a:gdLst/>
              <a:ahLst/>
              <a:cxnLst/>
              <a:rect r="r" b="b" t="t" l="l"/>
              <a:pathLst>
                <a:path h="6935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93560"/>
                  </a:lnTo>
                  <a:lnTo>
                    <a:pt x="0" y="693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49" r="0" b="-10002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242560" cy="73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Sortino Ratio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784341" y="5999564"/>
            <a:ext cx="3931920" cy="4984477"/>
            <a:chOff x="0" y="0"/>
            <a:chExt cx="5242560" cy="66459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42560" cy="6645970"/>
            </a:xfrm>
            <a:custGeom>
              <a:avLst/>
              <a:gdLst/>
              <a:ahLst/>
              <a:cxnLst/>
              <a:rect r="r" b="b" t="t" l="l"/>
              <a:pathLst>
                <a:path h="664597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645970"/>
                  </a:lnTo>
                  <a:lnTo>
                    <a:pt x="0" y="6645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6" r="0" b="727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242560" cy="6655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10B98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1.92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797038" y="9154690"/>
            <a:ext cx="3931920" cy="606865"/>
            <a:chOff x="0" y="0"/>
            <a:chExt cx="5242560" cy="8091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42560" cy="809154"/>
            </a:xfrm>
            <a:custGeom>
              <a:avLst/>
              <a:gdLst/>
              <a:ahLst/>
              <a:cxnLst/>
              <a:rect r="r" b="b" t="t" l="l"/>
              <a:pathLst>
                <a:path h="80915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09154"/>
                  </a:lnTo>
                  <a:lnTo>
                    <a:pt x="0" y="809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508" r="0" b="-7898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42560" cy="84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Downside Adjusted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31797" y="7276786"/>
            <a:ext cx="3957323" cy="2711630"/>
            <a:chOff x="0" y="0"/>
            <a:chExt cx="5276431" cy="361550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76342" cy="3615423"/>
            </a:xfrm>
            <a:custGeom>
              <a:avLst/>
              <a:gdLst/>
              <a:ahLst/>
              <a:cxnLst/>
              <a:rect r="r" b="b" t="t" l="l"/>
              <a:pathLst>
                <a:path h="3615423" w="5276342">
                  <a:moveTo>
                    <a:pt x="0" y="233234"/>
                  </a:moveTo>
                  <a:cubicBezTo>
                    <a:pt x="0" y="104395"/>
                    <a:pt x="110109" y="0"/>
                    <a:pt x="245999" y="0"/>
                  </a:cubicBezTo>
                  <a:lnTo>
                    <a:pt x="5030343" y="0"/>
                  </a:lnTo>
                  <a:cubicBezTo>
                    <a:pt x="5166233" y="0"/>
                    <a:pt x="5276342" y="104395"/>
                    <a:pt x="5276342" y="233234"/>
                  </a:cubicBezTo>
                  <a:lnTo>
                    <a:pt x="5276342" y="3382189"/>
                  </a:lnTo>
                  <a:cubicBezTo>
                    <a:pt x="5276342" y="3511028"/>
                    <a:pt x="5166233" y="3615423"/>
                    <a:pt x="5030343" y="3615423"/>
                  </a:cubicBezTo>
                  <a:lnTo>
                    <a:pt x="245999" y="3615423"/>
                  </a:lnTo>
                  <a:cubicBezTo>
                    <a:pt x="110109" y="3615545"/>
                    <a:pt x="0" y="3511028"/>
                    <a:pt x="0" y="338218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31797" y="7475462"/>
            <a:ext cx="3931920" cy="520170"/>
            <a:chOff x="0" y="0"/>
            <a:chExt cx="5242560" cy="693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42560" cy="693560"/>
            </a:xfrm>
            <a:custGeom>
              <a:avLst/>
              <a:gdLst/>
              <a:ahLst/>
              <a:cxnLst/>
              <a:rect r="r" b="b" t="t" l="l"/>
              <a:pathLst>
                <a:path h="6935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93560"/>
                  </a:lnTo>
                  <a:lnTo>
                    <a:pt x="0" y="693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49" r="0" b="-1000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242560" cy="73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Alpha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44503" y="5999564"/>
            <a:ext cx="3931920" cy="4984477"/>
            <a:chOff x="0" y="0"/>
            <a:chExt cx="5242560" cy="66459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42560" cy="6645970"/>
            </a:xfrm>
            <a:custGeom>
              <a:avLst/>
              <a:gdLst/>
              <a:ahLst/>
              <a:cxnLst/>
              <a:rect r="r" b="b" t="t" l="l"/>
              <a:pathLst>
                <a:path h="664597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645970"/>
                  </a:lnTo>
                  <a:lnTo>
                    <a:pt x="0" y="6645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6" r="0" b="727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242560" cy="6655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0EA5E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+3.4%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44494" y="9022724"/>
            <a:ext cx="3931920" cy="606865"/>
            <a:chOff x="0" y="0"/>
            <a:chExt cx="5242560" cy="8091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42560" cy="809154"/>
            </a:xfrm>
            <a:custGeom>
              <a:avLst/>
              <a:gdLst/>
              <a:ahLst/>
              <a:cxnLst/>
              <a:rect r="r" b="b" t="t" l="l"/>
              <a:pathLst>
                <a:path h="80915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09154"/>
                  </a:lnTo>
                  <a:lnTo>
                    <a:pt x="0" y="809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508" r="0" b="-789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242560" cy="84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Excess vs Benchmark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44503" y="4911936"/>
            <a:ext cx="3957323" cy="2364850"/>
            <a:chOff x="0" y="0"/>
            <a:chExt cx="5276431" cy="31531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76469" cy="3153172"/>
            </a:xfrm>
            <a:custGeom>
              <a:avLst/>
              <a:gdLst/>
              <a:ahLst/>
              <a:cxnLst/>
              <a:rect r="r" b="b" t="t" l="l"/>
              <a:pathLst>
                <a:path h="3153172" w="5276469">
                  <a:moveTo>
                    <a:pt x="0" y="233595"/>
                  </a:moveTo>
                  <a:cubicBezTo>
                    <a:pt x="0" y="104516"/>
                    <a:pt x="110236" y="0"/>
                    <a:pt x="246380" y="0"/>
                  </a:cubicBezTo>
                  <a:lnTo>
                    <a:pt x="5030089" y="0"/>
                  </a:lnTo>
                  <a:cubicBezTo>
                    <a:pt x="5166106" y="0"/>
                    <a:pt x="5276469" y="104516"/>
                    <a:pt x="5276469" y="233595"/>
                  </a:cubicBezTo>
                  <a:lnTo>
                    <a:pt x="5276469" y="2919575"/>
                  </a:lnTo>
                  <a:cubicBezTo>
                    <a:pt x="5276469" y="3048534"/>
                    <a:pt x="5166233" y="3153172"/>
                    <a:pt x="5030089" y="3153172"/>
                  </a:cubicBezTo>
                  <a:lnTo>
                    <a:pt x="246380" y="3153172"/>
                  </a:lnTo>
                  <a:cubicBezTo>
                    <a:pt x="110363" y="3153172"/>
                    <a:pt x="0" y="3048654"/>
                    <a:pt x="0" y="291957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57200" y="5062686"/>
            <a:ext cx="3931920" cy="485492"/>
            <a:chOff x="0" y="0"/>
            <a:chExt cx="5242560" cy="6473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42560" cy="647323"/>
            </a:xfrm>
            <a:custGeom>
              <a:avLst/>
              <a:gdLst/>
              <a:ahLst/>
              <a:cxnLst/>
              <a:rect r="r" b="b" t="t" l="l"/>
              <a:pathLst>
                <a:path h="647323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47323"/>
                  </a:lnTo>
                  <a:lnTo>
                    <a:pt x="0" y="647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069" r="0" b="-11054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242560" cy="685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44494" y="3652247"/>
            <a:ext cx="3931920" cy="4694634"/>
            <a:chOff x="0" y="0"/>
            <a:chExt cx="5242560" cy="62595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42560" cy="6259512"/>
            </a:xfrm>
            <a:custGeom>
              <a:avLst/>
              <a:gdLst/>
              <a:ahLst/>
              <a:cxnLst/>
              <a:rect r="r" b="b" t="t" l="l"/>
              <a:pathLst>
                <a:path h="625951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259512"/>
                  </a:lnTo>
                  <a:lnTo>
                    <a:pt x="0" y="6259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2" r="0" b="7238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242560" cy="6269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0.87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57200" y="6484484"/>
            <a:ext cx="3931920" cy="554848"/>
            <a:chOff x="0" y="0"/>
            <a:chExt cx="5242560" cy="7397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42560" cy="739797"/>
            </a:xfrm>
            <a:custGeom>
              <a:avLst/>
              <a:gdLst/>
              <a:ahLst/>
              <a:cxnLst/>
              <a:rect r="r" b="b" t="t" l="l"/>
              <a:pathLst>
                <a:path h="739797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9797"/>
                  </a:lnTo>
                  <a:lnTo>
                    <a:pt x="0" y="73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43" r="0" b="-908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242560" cy="777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Sensitivity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97047" y="4911936"/>
            <a:ext cx="3957323" cy="2364850"/>
            <a:chOff x="0" y="0"/>
            <a:chExt cx="5276431" cy="31531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76469" cy="3153172"/>
            </a:xfrm>
            <a:custGeom>
              <a:avLst/>
              <a:gdLst/>
              <a:ahLst/>
              <a:cxnLst/>
              <a:rect r="r" b="b" t="t" l="l"/>
              <a:pathLst>
                <a:path h="3153172" w="5276469">
                  <a:moveTo>
                    <a:pt x="0" y="233595"/>
                  </a:moveTo>
                  <a:cubicBezTo>
                    <a:pt x="0" y="104516"/>
                    <a:pt x="110236" y="0"/>
                    <a:pt x="246380" y="0"/>
                  </a:cubicBezTo>
                  <a:lnTo>
                    <a:pt x="5030089" y="0"/>
                  </a:lnTo>
                  <a:cubicBezTo>
                    <a:pt x="5166106" y="0"/>
                    <a:pt x="5276469" y="104516"/>
                    <a:pt x="5276469" y="233595"/>
                  </a:cubicBezTo>
                  <a:lnTo>
                    <a:pt x="5276469" y="2919575"/>
                  </a:lnTo>
                  <a:cubicBezTo>
                    <a:pt x="5276469" y="3048534"/>
                    <a:pt x="5166233" y="3153172"/>
                    <a:pt x="5030089" y="3153172"/>
                  </a:cubicBezTo>
                  <a:lnTo>
                    <a:pt x="246380" y="3153172"/>
                  </a:lnTo>
                  <a:cubicBezTo>
                    <a:pt x="110363" y="3153172"/>
                    <a:pt x="0" y="3048654"/>
                    <a:pt x="0" y="291957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4809744" y="5062686"/>
            <a:ext cx="3931920" cy="485492"/>
            <a:chOff x="0" y="0"/>
            <a:chExt cx="5242560" cy="64732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42560" cy="647323"/>
            </a:xfrm>
            <a:custGeom>
              <a:avLst/>
              <a:gdLst/>
              <a:ahLst/>
              <a:cxnLst/>
              <a:rect r="r" b="b" t="t" l="l"/>
              <a:pathLst>
                <a:path h="647323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47323"/>
                  </a:lnTo>
                  <a:lnTo>
                    <a:pt x="0" y="647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069" r="0" b="-1105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242560" cy="685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Tracking Error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44503" y="643612"/>
            <a:ext cx="3931920" cy="4984477"/>
            <a:chOff x="0" y="0"/>
            <a:chExt cx="5242560" cy="66459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42560" cy="6645970"/>
            </a:xfrm>
            <a:custGeom>
              <a:avLst/>
              <a:gdLst/>
              <a:ahLst/>
              <a:cxnLst/>
              <a:rect r="r" b="b" t="t" l="l"/>
              <a:pathLst>
                <a:path h="664597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645970"/>
                  </a:lnTo>
                  <a:lnTo>
                    <a:pt x="0" y="6645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6" r="0" b="7270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5242560" cy="6655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0EA5E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14.2%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797038" y="3652247"/>
            <a:ext cx="3931920" cy="4694634"/>
            <a:chOff x="0" y="0"/>
            <a:chExt cx="5242560" cy="62595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42560" cy="6259512"/>
            </a:xfrm>
            <a:custGeom>
              <a:avLst/>
              <a:gdLst/>
              <a:ahLst/>
              <a:cxnLst/>
              <a:rect r="r" b="b" t="t" l="l"/>
              <a:pathLst>
                <a:path h="625951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259512"/>
                  </a:lnTo>
                  <a:lnTo>
                    <a:pt x="0" y="6259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2" r="0" b="7238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5242560" cy="6269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64748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2.1%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797038" y="691237"/>
            <a:ext cx="3931920" cy="4984477"/>
            <a:chOff x="0" y="0"/>
            <a:chExt cx="5242560" cy="66459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242560" cy="6645970"/>
            </a:xfrm>
            <a:custGeom>
              <a:avLst/>
              <a:gdLst/>
              <a:ahLst/>
              <a:cxnLst/>
              <a:rect r="r" b="b" t="t" l="l"/>
              <a:pathLst>
                <a:path h="664597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645970"/>
                  </a:lnTo>
                  <a:lnTo>
                    <a:pt x="0" y="6645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6" r="0" b="7270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5242560" cy="6655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1.38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809744" y="6484484"/>
            <a:ext cx="3931920" cy="554848"/>
            <a:chOff x="0" y="0"/>
            <a:chExt cx="5242560" cy="73979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42560" cy="739797"/>
            </a:xfrm>
            <a:custGeom>
              <a:avLst/>
              <a:gdLst/>
              <a:ahLst/>
              <a:cxnLst/>
              <a:rect r="r" b="b" t="t" l="l"/>
              <a:pathLst>
                <a:path h="739797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9797"/>
                  </a:lnTo>
                  <a:lnTo>
                    <a:pt x="0" y="73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43" r="0" b="-9081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242560" cy="777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Benchmark Dev.</a:t>
              </a:r>
            </a:p>
          </p:txBody>
        </p:sp>
      </p:grpSp>
      <p:pic>
        <p:nvPicPr>
          <p:cNvPr name="Picture 76" id="7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25691" y="1051693"/>
            <a:ext cx="10204704" cy="7278624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 rot="0">
            <a:off x="9314183" y="7704839"/>
            <a:ext cx="8529323" cy="2037083"/>
            <a:chOff x="0" y="0"/>
            <a:chExt cx="11372431" cy="27161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3723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372342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1125454" y="0"/>
                  </a:lnTo>
                  <a:cubicBezTo>
                    <a:pt x="11261852" y="0"/>
                    <a:pt x="11372342" y="110490"/>
                    <a:pt x="11372342" y="246888"/>
                  </a:cubicBezTo>
                  <a:lnTo>
                    <a:pt x="11372342" y="2469134"/>
                  </a:lnTo>
                  <a:cubicBezTo>
                    <a:pt x="11372342" y="2605532"/>
                    <a:pt x="11261852" y="2716022"/>
                    <a:pt x="11125454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E8F4FD"/>
            </a:solidFill>
            <a:ln w="25400" cap="sq">
              <a:solidFill>
                <a:srgbClr val="D1E9F7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692640" y="7863840"/>
            <a:ext cx="8046720" cy="1737360"/>
            <a:chOff x="0" y="0"/>
            <a:chExt cx="10728960" cy="23164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289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46" r="0" b="-4024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72896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A25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📌  Key Insight: Funds with Sharpe Ratio &gt; 1.2 consistently outperformed peers on risk-adjusted basis. Positive alpha funds demonstrated superior stock selection ability beyond index returns.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RISK ANALYTICS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52144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· CVaR · Rolling Sharpe · Cohort Analysis · SIP Continuity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3400" y="1813560"/>
            <a:ext cx="3870960" cy="2499360"/>
            <a:chOff x="0" y="0"/>
            <a:chExt cx="5161280" cy="3332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61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516128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4914392" y="0"/>
                  </a:lnTo>
                  <a:cubicBezTo>
                    <a:pt x="5050790" y="0"/>
                    <a:pt x="5161280" y="110490"/>
                    <a:pt x="5161280" y="246888"/>
                  </a:cubicBezTo>
                  <a:lnTo>
                    <a:pt x="5161280" y="3085592"/>
                  </a:lnTo>
                  <a:cubicBezTo>
                    <a:pt x="5161280" y="3221863"/>
                    <a:pt x="5050790" y="3332480"/>
                    <a:pt x="4914392" y="3332480"/>
                  </a:cubicBezTo>
                  <a:lnTo>
                    <a:pt x="246888" y="3332480"/>
                  </a:lnTo>
                  <a:cubicBezTo>
                    <a:pt x="110490" y="3332480"/>
                    <a:pt x="0" y="3221990"/>
                    <a:pt x="0" y="3085592"/>
                  </a:cubicBezTo>
                  <a:close/>
                </a:path>
              </a:pathLst>
            </a:custGeom>
            <a:solidFill>
              <a:srgbClr val="0F2E50"/>
            </a:solidFill>
            <a:ln w="3048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1938528"/>
            <a:ext cx="3840480" cy="512064"/>
            <a:chOff x="0" y="0"/>
            <a:chExt cx="512064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 (95%)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2377440"/>
            <a:ext cx="3840480" cy="1060704"/>
            <a:chOff x="0" y="0"/>
            <a:chExt cx="5120640" cy="141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9" r="0" b="-205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120640" cy="1423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EF44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−4.8%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640" y="3438144"/>
            <a:ext cx="3840480" cy="548640"/>
            <a:chOff x="0" y="0"/>
            <a:chExt cx="5120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1-Day Loss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85944" y="1813560"/>
            <a:ext cx="3870960" cy="2499360"/>
            <a:chOff x="0" y="0"/>
            <a:chExt cx="5161280" cy="3332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61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516128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4914392" y="0"/>
                  </a:lnTo>
                  <a:cubicBezTo>
                    <a:pt x="5050790" y="0"/>
                    <a:pt x="5161280" y="110490"/>
                    <a:pt x="5161280" y="246888"/>
                  </a:cubicBezTo>
                  <a:lnTo>
                    <a:pt x="5161280" y="3085592"/>
                  </a:lnTo>
                  <a:cubicBezTo>
                    <a:pt x="5161280" y="3221863"/>
                    <a:pt x="5050790" y="3332480"/>
                    <a:pt x="4914392" y="3332480"/>
                  </a:cubicBezTo>
                  <a:lnTo>
                    <a:pt x="246888" y="3332480"/>
                  </a:lnTo>
                  <a:cubicBezTo>
                    <a:pt x="110490" y="3332480"/>
                    <a:pt x="0" y="3221990"/>
                    <a:pt x="0" y="3085592"/>
                  </a:cubicBezTo>
                  <a:close/>
                </a:path>
              </a:pathLst>
            </a:custGeom>
            <a:solidFill>
              <a:srgbClr val="0F2E50"/>
            </a:solidFill>
            <a:ln w="3048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901184" y="1938528"/>
            <a:ext cx="3840480" cy="512064"/>
            <a:chOff x="0" y="0"/>
            <a:chExt cx="512064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CVaR (95%)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01184" y="2377440"/>
            <a:ext cx="3840480" cy="1060704"/>
            <a:chOff x="0" y="0"/>
            <a:chExt cx="512064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9" r="0" b="-205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120640" cy="1423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−6.2%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01184" y="3438144"/>
            <a:ext cx="3840480" cy="548640"/>
            <a:chOff x="0" y="0"/>
            <a:chExt cx="512064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Tail Loss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38488" y="1813560"/>
            <a:ext cx="3870960" cy="2499360"/>
            <a:chOff x="0" y="0"/>
            <a:chExt cx="5161280" cy="3332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61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516128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4914392" y="0"/>
                  </a:lnTo>
                  <a:cubicBezTo>
                    <a:pt x="5050790" y="0"/>
                    <a:pt x="5161280" y="110490"/>
                    <a:pt x="5161280" y="246888"/>
                  </a:cubicBezTo>
                  <a:lnTo>
                    <a:pt x="5161280" y="3085592"/>
                  </a:lnTo>
                  <a:cubicBezTo>
                    <a:pt x="5161280" y="3221863"/>
                    <a:pt x="5050790" y="3332480"/>
                    <a:pt x="4914392" y="3332480"/>
                  </a:cubicBezTo>
                  <a:lnTo>
                    <a:pt x="246888" y="3332480"/>
                  </a:lnTo>
                  <a:cubicBezTo>
                    <a:pt x="110490" y="3332480"/>
                    <a:pt x="0" y="3221990"/>
                    <a:pt x="0" y="3085592"/>
                  </a:cubicBezTo>
                  <a:close/>
                </a:path>
              </a:pathLst>
            </a:custGeom>
            <a:solidFill>
              <a:srgbClr val="0F2E50"/>
            </a:solidFill>
            <a:ln w="3048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253728" y="1938528"/>
            <a:ext cx="3840480" cy="512064"/>
            <a:chOff x="0" y="0"/>
            <a:chExt cx="512064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At-Risk SIPs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53728" y="2377440"/>
            <a:ext cx="3840480" cy="1060704"/>
            <a:chOff x="0" y="0"/>
            <a:chExt cx="5120640" cy="14142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9" r="0" b="-2054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120640" cy="1423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EA5E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18%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53728" y="3438144"/>
            <a:ext cx="3840480" cy="548640"/>
            <a:chOff x="0" y="0"/>
            <a:chExt cx="512064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Irregular Contributors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591032" y="1813560"/>
            <a:ext cx="3870960" cy="2499360"/>
            <a:chOff x="0" y="0"/>
            <a:chExt cx="5161280" cy="3332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61280" cy="3332480"/>
            </a:xfrm>
            <a:custGeom>
              <a:avLst/>
              <a:gdLst/>
              <a:ahLst/>
              <a:cxnLst/>
              <a:rect r="r" b="b" t="t" l="l"/>
              <a:pathLst>
                <a:path h="3332480" w="516128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4914392" y="0"/>
                  </a:lnTo>
                  <a:cubicBezTo>
                    <a:pt x="5050790" y="0"/>
                    <a:pt x="5161280" y="110490"/>
                    <a:pt x="5161280" y="246888"/>
                  </a:cubicBezTo>
                  <a:lnTo>
                    <a:pt x="5161280" y="3085592"/>
                  </a:lnTo>
                  <a:cubicBezTo>
                    <a:pt x="5161280" y="3221863"/>
                    <a:pt x="5050790" y="3332480"/>
                    <a:pt x="4914392" y="3332480"/>
                  </a:cubicBezTo>
                  <a:lnTo>
                    <a:pt x="246888" y="3332480"/>
                  </a:lnTo>
                  <a:cubicBezTo>
                    <a:pt x="110490" y="3332480"/>
                    <a:pt x="0" y="3221990"/>
                    <a:pt x="0" y="3085592"/>
                  </a:cubicBezTo>
                  <a:close/>
                </a:path>
              </a:pathLst>
            </a:custGeom>
            <a:solidFill>
              <a:srgbClr val="0F2E50"/>
            </a:solidFill>
            <a:ln w="3048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606272" y="1938528"/>
            <a:ext cx="3840480" cy="512064"/>
            <a:chOff x="0" y="0"/>
            <a:chExt cx="512064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SIP Retention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606272" y="2377440"/>
            <a:ext cx="3840480" cy="1060704"/>
            <a:chOff x="0" y="0"/>
            <a:chExt cx="5120640" cy="14142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9" r="0" b="-2054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120640" cy="1423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0B98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82%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06272" y="3438144"/>
            <a:ext cx="3840480" cy="548640"/>
            <a:chOff x="0" y="0"/>
            <a:chExt cx="512064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Continuity Rate</a:t>
              </a:r>
            </a:p>
          </p:txBody>
        </p:sp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4320" y="3657600"/>
            <a:ext cx="9875520" cy="694944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485632" y="3639312"/>
            <a:ext cx="10094976" cy="6986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133856"/>
            <a:chOff x="0" y="0"/>
            <a:chExt cx="21945600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POWER BI DASHBOARD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097280"/>
            <a:ext cx="16459200" cy="658368"/>
            <a:chOff x="0" y="0"/>
            <a:chExt cx="21945600" cy="877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4-Page Interactive Analytics Platform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4503" y="1998983"/>
            <a:ext cx="8437883" cy="3591563"/>
            <a:chOff x="0" y="0"/>
            <a:chExt cx="11250511" cy="4788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50550" cy="4788789"/>
            </a:xfrm>
            <a:custGeom>
              <a:avLst/>
              <a:gdLst/>
              <a:ahLst/>
              <a:cxnLst/>
              <a:rect r="r" b="b" t="t" l="l"/>
              <a:pathLst>
                <a:path h="4788789" w="1125055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1004931" y="0"/>
                  </a:lnTo>
                  <a:cubicBezTo>
                    <a:pt x="11140567" y="0"/>
                    <a:pt x="11250550" y="109982"/>
                    <a:pt x="11250550" y="245618"/>
                  </a:cubicBezTo>
                  <a:lnTo>
                    <a:pt x="11250550" y="4543171"/>
                  </a:lnTo>
                  <a:cubicBezTo>
                    <a:pt x="11250550" y="4678807"/>
                    <a:pt x="11140567" y="4788789"/>
                    <a:pt x="11004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86384" y="2377440"/>
            <a:ext cx="731520" cy="731520"/>
            <a:chOff x="0" y="0"/>
            <a:chExt cx="975360" cy="97536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4663" y="2255015"/>
            <a:ext cx="1031243" cy="427739"/>
            <a:chOff x="0" y="0"/>
            <a:chExt cx="1374991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4902" cy="570230"/>
            </a:xfrm>
            <a:custGeom>
              <a:avLst/>
              <a:gdLst/>
              <a:ahLst/>
              <a:cxnLst/>
              <a:rect r="r" b="b" t="t" l="l"/>
              <a:pathLst>
                <a:path h="570230" w="1374902">
                  <a:moveTo>
                    <a:pt x="0" y="103632"/>
                  </a:moveTo>
                  <a:cubicBezTo>
                    <a:pt x="0" y="46482"/>
                    <a:pt x="46482" y="0"/>
                    <a:pt x="103632" y="0"/>
                  </a:cubicBezTo>
                  <a:lnTo>
                    <a:pt x="1271270" y="0"/>
                  </a:lnTo>
                  <a:cubicBezTo>
                    <a:pt x="1328547" y="0"/>
                    <a:pt x="1374902" y="46482"/>
                    <a:pt x="1374902" y="103632"/>
                  </a:cubicBezTo>
                  <a:lnTo>
                    <a:pt x="1374902" y="466598"/>
                  </a:lnTo>
                  <a:cubicBezTo>
                    <a:pt x="1374902" y="523875"/>
                    <a:pt x="1328420" y="570230"/>
                    <a:pt x="1271270" y="570230"/>
                  </a:cubicBezTo>
                  <a:lnTo>
                    <a:pt x="103632" y="570230"/>
                  </a:lnTo>
                  <a:cubicBezTo>
                    <a:pt x="46482" y="570357"/>
                    <a:pt x="0" y="523875"/>
                    <a:pt x="0" y="466598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37360" y="2267712"/>
            <a:ext cx="1005840" cy="402336"/>
            <a:chOff x="0" y="0"/>
            <a:chExt cx="1341120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26080" y="2231136"/>
            <a:ext cx="5669280" cy="640080"/>
            <a:chOff x="0" y="0"/>
            <a:chExt cx="755904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59040" cy="853440"/>
            </a:xfrm>
            <a:custGeom>
              <a:avLst/>
              <a:gdLst/>
              <a:ahLst/>
              <a:cxnLst/>
              <a:rect r="r" b="b" t="t" l="l"/>
              <a:pathLst>
                <a:path h="853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559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Industry Overview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61239" y="3169415"/>
            <a:ext cx="208283" cy="208283"/>
            <a:chOff x="0" y="0"/>
            <a:chExt cx="277711" cy="2777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103120" y="3072384"/>
            <a:ext cx="6492240" cy="512064"/>
            <a:chOff x="0" y="0"/>
            <a:chExt cx="8656320" cy="68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AUM distribution across fund categories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61239" y="3736343"/>
            <a:ext cx="208283" cy="208283"/>
            <a:chOff x="0" y="0"/>
            <a:chExt cx="277711" cy="2777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103120" y="3639312"/>
            <a:ext cx="6492240" cy="512064"/>
            <a:chOff x="0" y="0"/>
            <a:chExt cx="865632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 house market share analysis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61239" y="4303271"/>
            <a:ext cx="208283" cy="208283"/>
            <a:chOff x="0" y="0"/>
            <a:chExt cx="27771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2103120" y="4206240"/>
            <a:ext cx="6492240" cy="512064"/>
            <a:chOff x="0" y="0"/>
            <a:chExt cx="865632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 trend by scheme type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61239" y="4870199"/>
            <a:ext cx="208283" cy="208283"/>
            <a:chOff x="0" y="0"/>
            <a:chExt cx="277711" cy="2777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103120" y="4773168"/>
            <a:ext cx="6492240" cy="512064"/>
            <a:chOff x="0" y="0"/>
            <a:chExt cx="865632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Expense ratio benchmarking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14183" y="1998983"/>
            <a:ext cx="8437883" cy="3591563"/>
            <a:chOff x="0" y="0"/>
            <a:chExt cx="11250511" cy="47887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50550" cy="4788789"/>
            </a:xfrm>
            <a:custGeom>
              <a:avLst/>
              <a:gdLst/>
              <a:ahLst/>
              <a:cxnLst/>
              <a:rect r="r" b="b" t="t" l="l"/>
              <a:pathLst>
                <a:path h="4788789" w="1125055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1004931" y="0"/>
                  </a:lnTo>
                  <a:cubicBezTo>
                    <a:pt x="11140567" y="0"/>
                    <a:pt x="11250550" y="109982"/>
                    <a:pt x="11250550" y="245618"/>
                  </a:cubicBezTo>
                  <a:lnTo>
                    <a:pt x="11250550" y="4543171"/>
                  </a:lnTo>
                  <a:cubicBezTo>
                    <a:pt x="11250550" y="4678807"/>
                    <a:pt x="11140567" y="4788789"/>
                    <a:pt x="11004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56064" y="2377440"/>
            <a:ext cx="731520" cy="731520"/>
            <a:chOff x="0" y="0"/>
            <a:chExt cx="975360" cy="97536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594343" y="2255015"/>
            <a:ext cx="1031243" cy="427739"/>
            <a:chOff x="0" y="0"/>
            <a:chExt cx="1374991" cy="5703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74902" cy="570230"/>
            </a:xfrm>
            <a:custGeom>
              <a:avLst/>
              <a:gdLst/>
              <a:ahLst/>
              <a:cxnLst/>
              <a:rect r="r" b="b" t="t" l="l"/>
              <a:pathLst>
                <a:path h="570230" w="1374902">
                  <a:moveTo>
                    <a:pt x="0" y="103632"/>
                  </a:moveTo>
                  <a:cubicBezTo>
                    <a:pt x="0" y="46482"/>
                    <a:pt x="46482" y="0"/>
                    <a:pt x="103632" y="0"/>
                  </a:cubicBezTo>
                  <a:lnTo>
                    <a:pt x="1271270" y="0"/>
                  </a:lnTo>
                  <a:cubicBezTo>
                    <a:pt x="1328547" y="0"/>
                    <a:pt x="1374902" y="46482"/>
                    <a:pt x="1374902" y="103632"/>
                  </a:cubicBezTo>
                  <a:lnTo>
                    <a:pt x="1374902" y="466598"/>
                  </a:lnTo>
                  <a:cubicBezTo>
                    <a:pt x="1374902" y="523875"/>
                    <a:pt x="1328420" y="570230"/>
                    <a:pt x="1271270" y="570230"/>
                  </a:cubicBezTo>
                  <a:lnTo>
                    <a:pt x="103632" y="570230"/>
                  </a:lnTo>
                  <a:cubicBezTo>
                    <a:pt x="46482" y="570357"/>
                    <a:pt x="0" y="523875"/>
                    <a:pt x="0" y="466598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607040" y="2267712"/>
            <a:ext cx="1005840" cy="402336"/>
            <a:chOff x="0" y="0"/>
            <a:chExt cx="1341120" cy="5364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795760" y="2231136"/>
            <a:ext cx="5669280" cy="640080"/>
            <a:chOff x="0" y="0"/>
            <a:chExt cx="755904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59040" cy="853440"/>
            </a:xfrm>
            <a:custGeom>
              <a:avLst/>
              <a:gdLst/>
              <a:ahLst/>
              <a:cxnLst/>
              <a:rect r="r" b="b" t="t" l="l"/>
              <a:pathLst>
                <a:path h="853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7559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Fund Performance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30919" y="3169415"/>
            <a:ext cx="208283" cy="208283"/>
            <a:chOff x="0" y="0"/>
            <a:chExt cx="277711" cy="2777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972800" y="3072384"/>
            <a:ext cx="6492240" cy="512064"/>
            <a:chOff x="0" y="0"/>
            <a:chExt cx="865632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CAGR and annualized return rankings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30919" y="3736343"/>
            <a:ext cx="208283" cy="208283"/>
            <a:chOff x="0" y="0"/>
            <a:chExt cx="277711" cy="2777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972800" y="3639312"/>
            <a:ext cx="6492240" cy="512064"/>
            <a:chOff x="0" y="0"/>
            <a:chExt cx="865632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Sharpe &amp; Sortino ratio comparison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30919" y="4303271"/>
            <a:ext cx="208283" cy="208283"/>
            <a:chOff x="0" y="0"/>
            <a:chExt cx="277711" cy="2777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972800" y="4206240"/>
            <a:ext cx="6492240" cy="512064"/>
            <a:chOff x="0" y="0"/>
            <a:chExt cx="865632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Alpha/Beta scatter plots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630919" y="4870199"/>
            <a:ext cx="208283" cy="208283"/>
            <a:chOff x="0" y="0"/>
            <a:chExt cx="277711" cy="2777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972800" y="4773168"/>
            <a:ext cx="6492240" cy="512064"/>
            <a:chOff x="0" y="0"/>
            <a:chExt cx="865632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10 fund leaderboard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44503" y="5930903"/>
            <a:ext cx="8437883" cy="3591563"/>
            <a:chOff x="0" y="0"/>
            <a:chExt cx="11250511" cy="478875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50550" cy="4788789"/>
            </a:xfrm>
            <a:custGeom>
              <a:avLst/>
              <a:gdLst/>
              <a:ahLst/>
              <a:cxnLst/>
              <a:rect r="r" b="b" t="t" l="l"/>
              <a:pathLst>
                <a:path h="4788789" w="1125055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1004931" y="0"/>
                  </a:lnTo>
                  <a:cubicBezTo>
                    <a:pt x="11140567" y="0"/>
                    <a:pt x="11250550" y="109982"/>
                    <a:pt x="11250550" y="245618"/>
                  </a:cubicBezTo>
                  <a:lnTo>
                    <a:pt x="11250550" y="4543171"/>
                  </a:lnTo>
                  <a:cubicBezTo>
                    <a:pt x="11250550" y="4678807"/>
                    <a:pt x="11140567" y="4788789"/>
                    <a:pt x="11004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786384" y="6309360"/>
            <a:ext cx="731520" cy="731520"/>
            <a:chOff x="0" y="0"/>
            <a:chExt cx="975360" cy="97536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724663" y="6186935"/>
            <a:ext cx="1031243" cy="427739"/>
            <a:chOff x="0" y="0"/>
            <a:chExt cx="1374991" cy="57031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74902" cy="570230"/>
            </a:xfrm>
            <a:custGeom>
              <a:avLst/>
              <a:gdLst/>
              <a:ahLst/>
              <a:cxnLst/>
              <a:rect r="r" b="b" t="t" l="l"/>
              <a:pathLst>
                <a:path h="570230" w="1374902">
                  <a:moveTo>
                    <a:pt x="0" y="103632"/>
                  </a:moveTo>
                  <a:cubicBezTo>
                    <a:pt x="0" y="46482"/>
                    <a:pt x="46482" y="0"/>
                    <a:pt x="103632" y="0"/>
                  </a:cubicBezTo>
                  <a:lnTo>
                    <a:pt x="1271270" y="0"/>
                  </a:lnTo>
                  <a:cubicBezTo>
                    <a:pt x="1328547" y="0"/>
                    <a:pt x="1374902" y="46482"/>
                    <a:pt x="1374902" y="103632"/>
                  </a:cubicBezTo>
                  <a:lnTo>
                    <a:pt x="1374902" y="466598"/>
                  </a:lnTo>
                  <a:cubicBezTo>
                    <a:pt x="1374902" y="523875"/>
                    <a:pt x="1328420" y="570230"/>
                    <a:pt x="1271270" y="570230"/>
                  </a:cubicBezTo>
                  <a:lnTo>
                    <a:pt x="103632" y="570230"/>
                  </a:lnTo>
                  <a:cubicBezTo>
                    <a:pt x="46482" y="570357"/>
                    <a:pt x="0" y="523875"/>
                    <a:pt x="0" y="466598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737360" y="6199632"/>
            <a:ext cx="1005840" cy="402336"/>
            <a:chOff x="0" y="0"/>
            <a:chExt cx="134112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3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926080" y="6163056"/>
            <a:ext cx="5669280" cy="640080"/>
            <a:chOff x="0" y="0"/>
            <a:chExt cx="755904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559040" cy="853440"/>
            </a:xfrm>
            <a:custGeom>
              <a:avLst/>
              <a:gdLst/>
              <a:ahLst/>
              <a:cxnLst/>
              <a:rect r="r" b="b" t="t" l="l"/>
              <a:pathLst>
                <a:path h="853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7559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Investor Analytics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61239" y="7101335"/>
            <a:ext cx="208283" cy="208283"/>
            <a:chOff x="0" y="0"/>
            <a:chExt cx="277711" cy="2777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2103120" y="7004304"/>
            <a:ext cx="6492240" cy="512064"/>
            <a:chOff x="0" y="0"/>
            <a:chExt cx="8656320" cy="6827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 &amp; gender demographic distribution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61239" y="7668263"/>
            <a:ext cx="208283" cy="208283"/>
            <a:chOff x="0" y="0"/>
            <a:chExt cx="277711" cy="27771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2103120" y="7571232"/>
            <a:ext cx="6492240" cy="512064"/>
            <a:chOff x="0" y="0"/>
            <a:chExt cx="865632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Geographic heat map by state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761239" y="8235191"/>
            <a:ext cx="208283" cy="208283"/>
            <a:chOff x="0" y="0"/>
            <a:chExt cx="277711" cy="27771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2103120" y="8138160"/>
            <a:ext cx="6492240" cy="512064"/>
            <a:chOff x="0" y="0"/>
            <a:chExt cx="865632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City-tier investment breakdown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761239" y="8802119"/>
            <a:ext cx="208283" cy="208283"/>
            <a:chOff x="0" y="0"/>
            <a:chExt cx="277711" cy="27771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2103120" y="8705088"/>
            <a:ext cx="6492240" cy="512064"/>
            <a:chOff x="0" y="0"/>
            <a:chExt cx="865632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 type analysis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314183" y="5930903"/>
            <a:ext cx="8437883" cy="3591563"/>
            <a:chOff x="0" y="0"/>
            <a:chExt cx="11250511" cy="478875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250550" cy="4788789"/>
            </a:xfrm>
            <a:custGeom>
              <a:avLst/>
              <a:gdLst/>
              <a:ahLst/>
              <a:cxnLst/>
              <a:rect r="r" b="b" t="t" l="l"/>
              <a:pathLst>
                <a:path h="4788789" w="1125055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1004931" y="0"/>
                  </a:lnTo>
                  <a:cubicBezTo>
                    <a:pt x="11140567" y="0"/>
                    <a:pt x="11250550" y="109982"/>
                    <a:pt x="11250550" y="245618"/>
                  </a:cubicBezTo>
                  <a:lnTo>
                    <a:pt x="11250550" y="4543171"/>
                  </a:lnTo>
                  <a:cubicBezTo>
                    <a:pt x="11250550" y="4678807"/>
                    <a:pt x="11140567" y="4788789"/>
                    <a:pt x="11004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9656064" y="6309360"/>
            <a:ext cx="731520" cy="731520"/>
            <a:chOff x="0" y="0"/>
            <a:chExt cx="975360" cy="975360"/>
          </a:xfrm>
        </p:grpSpPr>
        <p:sp>
          <p:nvSpPr>
            <p:cNvPr name="Freeform 109" id="10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594343" y="6186935"/>
            <a:ext cx="1031243" cy="427739"/>
            <a:chOff x="0" y="0"/>
            <a:chExt cx="1374991" cy="57031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374902" cy="570230"/>
            </a:xfrm>
            <a:custGeom>
              <a:avLst/>
              <a:gdLst/>
              <a:ahLst/>
              <a:cxnLst/>
              <a:rect r="r" b="b" t="t" l="l"/>
              <a:pathLst>
                <a:path h="570230" w="1374902">
                  <a:moveTo>
                    <a:pt x="0" y="103632"/>
                  </a:moveTo>
                  <a:cubicBezTo>
                    <a:pt x="0" y="46482"/>
                    <a:pt x="46482" y="0"/>
                    <a:pt x="103632" y="0"/>
                  </a:cubicBezTo>
                  <a:lnTo>
                    <a:pt x="1271270" y="0"/>
                  </a:lnTo>
                  <a:cubicBezTo>
                    <a:pt x="1328547" y="0"/>
                    <a:pt x="1374902" y="46482"/>
                    <a:pt x="1374902" y="103632"/>
                  </a:cubicBezTo>
                  <a:lnTo>
                    <a:pt x="1374902" y="466598"/>
                  </a:lnTo>
                  <a:cubicBezTo>
                    <a:pt x="1374902" y="523875"/>
                    <a:pt x="1328420" y="570230"/>
                    <a:pt x="1271270" y="570230"/>
                  </a:cubicBezTo>
                  <a:lnTo>
                    <a:pt x="103632" y="570230"/>
                  </a:lnTo>
                  <a:cubicBezTo>
                    <a:pt x="46482" y="570357"/>
                    <a:pt x="0" y="523875"/>
                    <a:pt x="0" y="466598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0607040" y="6199632"/>
            <a:ext cx="1005840" cy="402336"/>
            <a:chOff x="0" y="0"/>
            <a:chExt cx="1341120" cy="53644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34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4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1795760" y="6163056"/>
            <a:ext cx="5669280" cy="640080"/>
            <a:chOff x="0" y="0"/>
            <a:chExt cx="7559040" cy="8534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559040" cy="853440"/>
            </a:xfrm>
            <a:custGeom>
              <a:avLst/>
              <a:gdLst/>
              <a:ahLst/>
              <a:cxnLst/>
              <a:rect r="r" b="b" t="t" l="l"/>
              <a:pathLst>
                <a:path h="853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7559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SIP &amp; Market Trends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630919" y="7101335"/>
            <a:ext cx="208283" cy="208283"/>
            <a:chOff x="0" y="0"/>
            <a:chExt cx="277711" cy="27771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972800" y="7004304"/>
            <a:ext cx="6492240" cy="512064"/>
            <a:chOff x="0" y="0"/>
            <a:chExt cx="8656320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 inflow trends over time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630919" y="7668263"/>
            <a:ext cx="208283" cy="208283"/>
            <a:chOff x="0" y="0"/>
            <a:chExt cx="277711" cy="277711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972800" y="7571232"/>
            <a:ext cx="6492240" cy="512064"/>
            <a:chOff x="0" y="0"/>
            <a:chExt cx="865632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Benchmark index performance overlay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630919" y="8235191"/>
            <a:ext cx="208283" cy="208283"/>
            <a:chOff x="0" y="0"/>
            <a:chExt cx="277711" cy="27771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0972800" y="8138160"/>
            <a:ext cx="6492240" cy="512064"/>
            <a:chOff x="0" y="0"/>
            <a:chExt cx="8656320" cy="6827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Category-wise SIP participation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0630919" y="8802119"/>
            <a:ext cx="208283" cy="208283"/>
            <a:chOff x="0" y="0"/>
            <a:chExt cx="277711" cy="277711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972800" y="8705088"/>
            <a:ext cx="6492240" cy="512064"/>
            <a:chOff x="0" y="0"/>
            <a:chExt cx="8656320" cy="68275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656320" cy="682752"/>
            </a:xfrm>
            <a:custGeom>
              <a:avLst/>
              <a:gdLst/>
              <a:ahLst/>
              <a:cxnLst/>
              <a:rect r="r" b="b" t="t" l="l"/>
              <a:pathLst>
                <a:path h="68275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8656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Investor continuity scoring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FINDINGS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52144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· Risk · Investor Behavior · Market Insights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1907543"/>
            <a:ext cx="3865883" cy="3591563"/>
            <a:chOff x="0" y="0"/>
            <a:chExt cx="5154511" cy="4788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04672" y="2249424"/>
            <a:ext cx="694944" cy="694944"/>
            <a:chOff x="0" y="0"/>
            <a:chExt cx="926592" cy="92659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06375" y="2273303"/>
            <a:ext cx="2402843" cy="464315"/>
            <a:chOff x="0" y="0"/>
            <a:chExt cx="3203791" cy="6190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19072" y="2286000"/>
            <a:ext cx="2377440" cy="438912"/>
            <a:chOff x="0" y="0"/>
            <a:chExt cx="3169920" cy="58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4672" y="2926080"/>
            <a:ext cx="3383280" cy="2340864"/>
            <a:chOff x="0" y="0"/>
            <a:chExt cx="4511040" cy="3121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Funds with Sharpe Ratio &gt; 1.2 consistently delivered superior risk-adjusted returns vs peers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650743" y="1907543"/>
            <a:ext cx="3865883" cy="3591563"/>
            <a:chOff x="0" y="0"/>
            <a:chExt cx="5154511" cy="47887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919472" y="2249424"/>
            <a:ext cx="694944" cy="694944"/>
            <a:chOff x="0" y="0"/>
            <a:chExt cx="926592" cy="92659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21175" y="2273303"/>
            <a:ext cx="2402843" cy="464315"/>
            <a:chOff x="0" y="0"/>
            <a:chExt cx="3203791" cy="6190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833872" y="2286000"/>
            <a:ext cx="2377440" cy="438912"/>
            <a:chOff x="0" y="0"/>
            <a:chExt cx="316992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SIP GROWTH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19472" y="2926080"/>
            <a:ext cx="3383280" cy="2340864"/>
            <a:chOff x="0" y="0"/>
            <a:chExt cx="4511040" cy="31211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 inflows grew ~150% from 2019–2024, reflecting strong retail participation in mutual funds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65543" y="1907543"/>
            <a:ext cx="3865883" cy="3591563"/>
            <a:chOff x="0" y="0"/>
            <a:chExt cx="5154511" cy="47887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034272" y="2249424"/>
            <a:ext cx="694944" cy="694944"/>
            <a:chOff x="0" y="0"/>
            <a:chExt cx="926592" cy="926592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935975" y="2273303"/>
            <a:ext cx="2402843" cy="464315"/>
            <a:chOff x="0" y="0"/>
            <a:chExt cx="3203791" cy="6190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948672" y="2286000"/>
            <a:ext cx="2377440" cy="438912"/>
            <a:chOff x="0" y="0"/>
            <a:chExt cx="316992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ALPHA FUNDS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34272" y="2926080"/>
            <a:ext cx="3383280" cy="2340864"/>
            <a:chOff x="0" y="0"/>
            <a:chExt cx="4511040" cy="31211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 funds generated positive alpha (3–5%), outperforming benchmark indices over 5-year periods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880343" y="1907543"/>
            <a:ext cx="3865883" cy="3591563"/>
            <a:chOff x="0" y="0"/>
            <a:chExt cx="5154511" cy="47887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149072" y="2249424"/>
            <a:ext cx="694944" cy="694944"/>
            <a:chOff x="0" y="0"/>
            <a:chExt cx="926592" cy="926592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050775" y="2273303"/>
            <a:ext cx="2402843" cy="464315"/>
            <a:chOff x="0" y="0"/>
            <a:chExt cx="3203791" cy="61908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063472" y="2286000"/>
            <a:ext cx="2377440" cy="438912"/>
            <a:chOff x="0" y="0"/>
            <a:chExt cx="316992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TRACKING ERROR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149072" y="2926080"/>
            <a:ext cx="3383280" cy="2340864"/>
            <a:chOff x="0" y="0"/>
            <a:chExt cx="4511040" cy="31211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Tracking error varied 1.5%–4% across index funds, highlighting benchmark-following efficiency gaps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35943" y="5839463"/>
            <a:ext cx="3865883" cy="3591563"/>
            <a:chOff x="0" y="0"/>
            <a:chExt cx="5154511" cy="47887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804672" y="6181344"/>
            <a:ext cx="694944" cy="694944"/>
            <a:chOff x="0" y="0"/>
            <a:chExt cx="926592" cy="926592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706375" y="6205223"/>
            <a:ext cx="2402843" cy="464315"/>
            <a:chOff x="0" y="0"/>
            <a:chExt cx="3203791" cy="61908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719072" y="6217920"/>
            <a:ext cx="2377440" cy="438912"/>
            <a:chOff x="0" y="0"/>
            <a:chExt cx="3169920" cy="5852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DEMOGRAPHICS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04672" y="6858000"/>
            <a:ext cx="3383280" cy="2340864"/>
            <a:chOff x="0" y="0"/>
            <a:chExt cx="4511040" cy="31211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26–35 age group dominates (38% of investors); Tier-1 cities contribute majority of total AUM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650743" y="5839463"/>
            <a:ext cx="3865883" cy="3591563"/>
            <a:chOff x="0" y="0"/>
            <a:chExt cx="5154511" cy="47887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4919472" y="6181344"/>
            <a:ext cx="694944" cy="694944"/>
            <a:chOff x="0" y="0"/>
            <a:chExt cx="926592" cy="926592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821175" y="6205223"/>
            <a:ext cx="2402843" cy="464315"/>
            <a:chOff x="0" y="0"/>
            <a:chExt cx="3203791" cy="6190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5833872" y="6217920"/>
            <a:ext cx="2377440" cy="438912"/>
            <a:chOff x="0" y="0"/>
            <a:chExt cx="3169920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COHORT GROWTH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919472" y="6858000"/>
            <a:ext cx="3383280" cy="2340864"/>
            <a:chOff x="0" y="0"/>
            <a:chExt cx="4511040" cy="31211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Newer investor cohorts (2021–2023) contributed significantly to overall investment growth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765543" y="5839463"/>
            <a:ext cx="3865883" cy="3591563"/>
            <a:chOff x="0" y="0"/>
            <a:chExt cx="5154511" cy="47887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034272" y="6181344"/>
            <a:ext cx="694944" cy="694944"/>
            <a:chOff x="0" y="0"/>
            <a:chExt cx="926592" cy="926592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935975" y="6205223"/>
            <a:ext cx="2402843" cy="464315"/>
            <a:chOff x="0" y="0"/>
            <a:chExt cx="3203791" cy="61908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948672" y="6217920"/>
            <a:ext cx="2377440" cy="438912"/>
            <a:chOff x="0" y="0"/>
            <a:chExt cx="316992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SIP RISK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034272" y="6858000"/>
            <a:ext cx="3383280" cy="2340864"/>
            <a:chOff x="0" y="0"/>
            <a:chExt cx="4511040" cy="31211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18% of SIP investors identified as at-risk due to irregular contributions and high gap days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880343" y="5839463"/>
            <a:ext cx="3865883" cy="3591563"/>
            <a:chOff x="0" y="0"/>
            <a:chExt cx="5154511" cy="478875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154549" cy="4788789"/>
            </a:xfrm>
            <a:custGeom>
              <a:avLst/>
              <a:gdLst/>
              <a:ahLst/>
              <a:cxnLst/>
              <a:rect r="r" b="b" t="t" l="l"/>
              <a:pathLst>
                <a:path h="4788789" w="515454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908931" y="0"/>
                  </a:lnTo>
                  <a:cubicBezTo>
                    <a:pt x="5044567" y="0"/>
                    <a:pt x="5154549" y="109982"/>
                    <a:pt x="5154549" y="245618"/>
                  </a:cubicBezTo>
                  <a:lnTo>
                    <a:pt x="5154549" y="4543171"/>
                  </a:lnTo>
                  <a:cubicBezTo>
                    <a:pt x="5154549" y="4678807"/>
                    <a:pt x="5044567" y="4788789"/>
                    <a:pt x="4908931" y="4788789"/>
                  </a:cubicBezTo>
                  <a:lnTo>
                    <a:pt x="245618" y="4788789"/>
                  </a:lnTo>
                  <a:cubicBezTo>
                    <a:pt x="109982" y="4788789"/>
                    <a:pt x="0" y="4678807"/>
                    <a:pt x="0" y="4543171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3149072" y="6181344"/>
            <a:ext cx="694944" cy="694944"/>
            <a:chOff x="0" y="0"/>
            <a:chExt cx="926592" cy="926592"/>
          </a:xfrm>
        </p:grpSpPr>
        <p:sp>
          <p:nvSpPr>
            <p:cNvPr name="Freeform 97" id="97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050775" y="6205223"/>
            <a:ext cx="2402843" cy="464315"/>
            <a:chOff x="0" y="0"/>
            <a:chExt cx="3203791" cy="61908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203702" cy="618998"/>
            </a:xfrm>
            <a:custGeom>
              <a:avLst/>
              <a:gdLst/>
              <a:ahLst/>
              <a:cxnLst/>
              <a:rect r="r" b="b" t="t" l="l"/>
              <a:pathLst>
                <a:path h="618998" w="3203702">
                  <a:moveTo>
                    <a:pt x="0" y="103124"/>
                  </a:moveTo>
                  <a:cubicBezTo>
                    <a:pt x="0" y="46228"/>
                    <a:pt x="46228" y="0"/>
                    <a:pt x="103124" y="0"/>
                  </a:cubicBezTo>
                  <a:lnTo>
                    <a:pt x="3100578" y="0"/>
                  </a:lnTo>
                  <a:cubicBezTo>
                    <a:pt x="3157601" y="0"/>
                    <a:pt x="3203702" y="46228"/>
                    <a:pt x="3203702" y="103124"/>
                  </a:cubicBezTo>
                  <a:lnTo>
                    <a:pt x="3203702" y="515874"/>
                  </a:lnTo>
                  <a:cubicBezTo>
                    <a:pt x="3203702" y="572897"/>
                    <a:pt x="3157474" y="618998"/>
                    <a:pt x="3100578" y="618998"/>
                  </a:cubicBezTo>
                  <a:lnTo>
                    <a:pt x="103124" y="618998"/>
                  </a:lnTo>
                  <a:cubicBezTo>
                    <a:pt x="46228" y="619125"/>
                    <a:pt x="0" y="572897"/>
                    <a:pt x="0" y="515874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063472" y="6217920"/>
            <a:ext cx="2377440" cy="438912"/>
            <a:chOff x="0" y="0"/>
            <a:chExt cx="3169920" cy="5852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69920" cy="585216"/>
            </a:xfrm>
            <a:custGeom>
              <a:avLst/>
              <a:gdLst/>
              <a:ahLst/>
              <a:cxnLst/>
              <a:rect r="r" b="b" t="t" l="l"/>
              <a:pathLst>
                <a:path h="58521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1699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RISK-RETURN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149072" y="6858000"/>
            <a:ext cx="3383280" cy="2340864"/>
            <a:chOff x="0" y="0"/>
            <a:chExt cx="4511040" cy="31211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5110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72" t="0" r="-38772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511040" cy="3159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Higher-return funds exhibited higher VaR (4–8%), confirming the fundamental risk-return tradeoff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133856"/>
            <a:chOff x="0" y="0"/>
            <a:chExt cx="21945600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RECOMMENDATIONS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097280"/>
            <a:ext cx="16459200" cy="658368"/>
            <a:chOff x="0" y="0"/>
            <a:chExt cx="21945600" cy="877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Investment · Business · Data-Driven Decision Making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035559"/>
            <a:ext cx="8437883" cy="2402843"/>
            <a:chOff x="0" y="0"/>
            <a:chExt cx="11250511" cy="3203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50423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3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11004042" y="0"/>
                  </a:lnTo>
                  <a:cubicBezTo>
                    <a:pt x="11140186" y="0"/>
                    <a:pt x="11250423" y="110363"/>
                    <a:pt x="11250423" y="246380"/>
                  </a:cubicBezTo>
                  <a:lnTo>
                    <a:pt x="11250423" y="2957322"/>
                  </a:lnTo>
                  <a:cubicBezTo>
                    <a:pt x="11250423" y="3093466"/>
                    <a:pt x="11140060" y="3203702"/>
                    <a:pt x="11004042" y="3203702"/>
                  </a:cubicBezTo>
                  <a:lnTo>
                    <a:pt x="246380" y="3203702"/>
                  </a:lnTo>
                  <a:cubicBezTo>
                    <a:pt x="110236" y="3203702"/>
                    <a:pt x="0" y="3093339"/>
                    <a:pt x="0" y="295732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65127" y="2401319"/>
            <a:ext cx="756923" cy="665483"/>
            <a:chOff x="0" y="0"/>
            <a:chExt cx="1009231" cy="887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9269" cy="887349"/>
            </a:xfrm>
            <a:custGeom>
              <a:avLst/>
              <a:gdLst/>
              <a:ahLst/>
              <a:cxnLst/>
              <a:rect r="r" b="b" t="t" l="l"/>
              <a:pathLst>
                <a:path h="887349" w="1009269">
                  <a:moveTo>
                    <a:pt x="0" y="152146"/>
                  </a:moveTo>
                  <a:cubicBezTo>
                    <a:pt x="0" y="68072"/>
                    <a:pt x="68072" y="0"/>
                    <a:pt x="152146" y="0"/>
                  </a:cubicBezTo>
                  <a:lnTo>
                    <a:pt x="857123" y="0"/>
                  </a:lnTo>
                  <a:cubicBezTo>
                    <a:pt x="941070" y="0"/>
                    <a:pt x="1009269" y="68072"/>
                    <a:pt x="1009269" y="152146"/>
                  </a:cubicBezTo>
                  <a:lnTo>
                    <a:pt x="1009269" y="735203"/>
                  </a:lnTo>
                  <a:cubicBezTo>
                    <a:pt x="1009269" y="819150"/>
                    <a:pt x="941197" y="887349"/>
                    <a:pt x="857123" y="887349"/>
                  </a:cubicBezTo>
                  <a:lnTo>
                    <a:pt x="152146" y="887349"/>
                  </a:lnTo>
                  <a:cubicBezTo>
                    <a:pt x="68072" y="887349"/>
                    <a:pt x="0" y="819150"/>
                    <a:pt x="0" y="7352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77824" y="2414016"/>
            <a:ext cx="731520" cy="640080"/>
            <a:chOff x="0" y="0"/>
            <a:chExt cx="97536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53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65376" y="2340864"/>
            <a:ext cx="6839712" cy="585216"/>
            <a:chOff x="0" y="0"/>
            <a:chExt cx="9119616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19616" cy="780288"/>
            </a:xfrm>
            <a:custGeom>
              <a:avLst/>
              <a:gdLst/>
              <a:ahLst/>
              <a:cxnLst/>
              <a:rect r="r" b="b" t="t" l="l"/>
              <a:pathLst>
                <a:path h="780288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19616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Prioritize Risk-Adjusted Performance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65376" y="2926080"/>
            <a:ext cx="6839712" cy="1280160"/>
            <a:chOff x="0" y="0"/>
            <a:chExt cx="9119616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19616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5" r="0" b="-541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19616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funds using Sharpe &amp; Sortino Ratios rather than raw returns alone to ensure quality risk compensation.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05623" y="2035559"/>
            <a:ext cx="8437883" cy="2402843"/>
            <a:chOff x="0" y="0"/>
            <a:chExt cx="11250511" cy="3203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50423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3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11004042" y="0"/>
                  </a:lnTo>
                  <a:cubicBezTo>
                    <a:pt x="11140186" y="0"/>
                    <a:pt x="11250423" y="110363"/>
                    <a:pt x="11250423" y="246380"/>
                  </a:cubicBezTo>
                  <a:lnTo>
                    <a:pt x="11250423" y="2957322"/>
                  </a:lnTo>
                  <a:cubicBezTo>
                    <a:pt x="11250423" y="3093466"/>
                    <a:pt x="11140060" y="3203702"/>
                    <a:pt x="11004042" y="3203702"/>
                  </a:cubicBezTo>
                  <a:lnTo>
                    <a:pt x="246380" y="3203702"/>
                  </a:lnTo>
                  <a:cubicBezTo>
                    <a:pt x="110236" y="3203702"/>
                    <a:pt x="0" y="3093339"/>
                    <a:pt x="0" y="295732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34807" y="2401319"/>
            <a:ext cx="756923" cy="665483"/>
            <a:chOff x="0" y="0"/>
            <a:chExt cx="1009231" cy="8873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9269" cy="887349"/>
            </a:xfrm>
            <a:custGeom>
              <a:avLst/>
              <a:gdLst/>
              <a:ahLst/>
              <a:cxnLst/>
              <a:rect r="r" b="b" t="t" l="l"/>
              <a:pathLst>
                <a:path h="887349" w="1009269">
                  <a:moveTo>
                    <a:pt x="0" y="152146"/>
                  </a:moveTo>
                  <a:cubicBezTo>
                    <a:pt x="0" y="68072"/>
                    <a:pt x="68072" y="0"/>
                    <a:pt x="152146" y="0"/>
                  </a:cubicBezTo>
                  <a:lnTo>
                    <a:pt x="857123" y="0"/>
                  </a:lnTo>
                  <a:cubicBezTo>
                    <a:pt x="941070" y="0"/>
                    <a:pt x="1009269" y="68072"/>
                    <a:pt x="1009269" y="152146"/>
                  </a:cubicBezTo>
                  <a:lnTo>
                    <a:pt x="1009269" y="735203"/>
                  </a:lnTo>
                  <a:cubicBezTo>
                    <a:pt x="1009269" y="819150"/>
                    <a:pt x="941197" y="887349"/>
                    <a:pt x="857123" y="887349"/>
                  </a:cubicBezTo>
                  <a:lnTo>
                    <a:pt x="152146" y="887349"/>
                  </a:lnTo>
                  <a:cubicBezTo>
                    <a:pt x="68072" y="887349"/>
                    <a:pt x="0" y="819150"/>
                    <a:pt x="0" y="735203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747504" y="2414016"/>
            <a:ext cx="731520" cy="640080"/>
            <a:chOff x="0" y="0"/>
            <a:chExt cx="97536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753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735056" y="2340864"/>
            <a:ext cx="6839712" cy="585216"/>
            <a:chOff x="0" y="0"/>
            <a:chExt cx="9119616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19616" cy="780288"/>
            </a:xfrm>
            <a:custGeom>
              <a:avLst/>
              <a:gdLst/>
              <a:ahLst/>
              <a:cxnLst/>
              <a:rect r="r" b="b" t="t" l="l"/>
              <a:pathLst>
                <a:path h="780288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119616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Maintain SIP Discipline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735056" y="2926080"/>
            <a:ext cx="6839712" cy="1280160"/>
            <a:chOff x="0" y="0"/>
            <a:chExt cx="9119616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19616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5" r="0" b="-541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19616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Consistent SIP investing reduces market timing risk; target uninterrupted SIP streaks to maximize compounding benefits.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5943" y="4687319"/>
            <a:ext cx="8437883" cy="2402843"/>
            <a:chOff x="0" y="0"/>
            <a:chExt cx="11250511" cy="32037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50423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3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11004042" y="0"/>
                  </a:lnTo>
                  <a:cubicBezTo>
                    <a:pt x="11140186" y="0"/>
                    <a:pt x="11250423" y="110363"/>
                    <a:pt x="11250423" y="246380"/>
                  </a:cubicBezTo>
                  <a:lnTo>
                    <a:pt x="11250423" y="2957322"/>
                  </a:lnTo>
                  <a:cubicBezTo>
                    <a:pt x="11250423" y="3093466"/>
                    <a:pt x="11140060" y="3203702"/>
                    <a:pt x="11004042" y="3203702"/>
                  </a:cubicBezTo>
                  <a:lnTo>
                    <a:pt x="246380" y="3203702"/>
                  </a:lnTo>
                  <a:cubicBezTo>
                    <a:pt x="110236" y="3203702"/>
                    <a:pt x="0" y="3093339"/>
                    <a:pt x="0" y="295732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65127" y="5053079"/>
            <a:ext cx="756923" cy="665483"/>
            <a:chOff x="0" y="0"/>
            <a:chExt cx="1009231" cy="8873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9269" cy="887349"/>
            </a:xfrm>
            <a:custGeom>
              <a:avLst/>
              <a:gdLst/>
              <a:ahLst/>
              <a:cxnLst/>
              <a:rect r="r" b="b" t="t" l="l"/>
              <a:pathLst>
                <a:path h="887349" w="1009269">
                  <a:moveTo>
                    <a:pt x="0" y="152146"/>
                  </a:moveTo>
                  <a:cubicBezTo>
                    <a:pt x="0" y="68072"/>
                    <a:pt x="68072" y="0"/>
                    <a:pt x="152146" y="0"/>
                  </a:cubicBezTo>
                  <a:lnTo>
                    <a:pt x="857123" y="0"/>
                  </a:lnTo>
                  <a:cubicBezTo>
                    <a:pt x="941070" y="0"/>
                    <a:pt x="1009269" y="68072"/>
                    <a:pt x="1009269" y="152146"/>
                  </a:cubicBezTo>
                  <a:lnTo>
                    <a:pt x="1009269" y="735203"/>
                  </a:lnTo>
                  <a:cubicBezTo>
                    <a:pt x="1009269" y="819150"/>
                    <a:pt x="941197" y="887349"/>
                    <a:pt x="857123" y="887349"/>
                  </a:cubicBezTo>
                  <a:lnTo>
                    <a:pt x="152146" y="887349"/>
                  </a:lnTo>
                  <a:cubicBezTo>
                    <a:pt x="68072" y="887349"/>
                    <a:pt x="0" y="819150"/>
                    <a:pt x="0" y="735203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77824" y="5065776"/>
            <a:ext cx="731520" cy="640080"/>
            <a:chOff x="0" y="0"/>
            <a:chExt cx="97536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753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865376" y="4992624"/>
            <a:ext cx="6839712" cy="585216"/>
            <a:chOff x="0" y="0"/>
            <a:chExt cx="9119616" cy="780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19616" cy="780288"/>
            </a:xfrm>
            <a:custGeom>
              <a:avLst/>
              <a:gdLst/>
              <a:ahLst/>
              <a:cxnLst/>
              <a:rect r="r" b="b" t="t" l="l"/>
              <a:pathLst>
                <a:path h="780288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19616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 Benchmark Performance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65376" y="5577840"/>
            <a:ext cx="6839712" cy="1280160"/>
            <a:chOff x="0" y="0"/>
            <a:chExt cx="9119616" cy="17068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19616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5" r="0" b="-5410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119616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Prefer funds with positive alpha and low tracking error; these demonstrate genuine benchmark-beating ability.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05623" y="4687319"/>
            <a:ext cx="8437883" cy="2402843"/>
            <a:chOff x="0" y="0"/>
            <a:chExt cx="11250511" cy="32037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50423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3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11004042" y="0"/>
                  </a:lnTo>
                  <a:cubicBezTo>
                    <a:pt x="11140186" y="0"/>
                    <a:pt x="11250423" y="110363"/>
                    <a:pt x="11250423" y="246380"/>
                  </a:cubicBezTo>
                  <a:lnTo>
                    <a:pt x="11250423" y="2957322"/>
                  </a:lnTo>
                  <a:cubicBezTo>
                    <a:pt x="11250423" y="3093466"/>
                    <a:pt x="11140060" y="3203702"/>
                    <a:pt x="11004042" y="3203702"/>
                  </a:cubicBezTo>
                  <a:lnTo>
                    <a:pt x="246380" y="3203702"/>
                  </a:lnTo>
                  <a:cubicBezTo>
                    <a:pt x="110236" y="3203702"/>
                    <a:pt x="0" y="3093339"/>
                    <a:pt x="0" y="295732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734807" y="5053079"/>
            <a:ext cx="756923" cy="665483"/>
            <a:chOff x="0" y="0"/>
            <a:chExt cx="1009231" cy="88731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9269" cy="887349"/>
            </a:xfrm>
            <a:custGeom>
              <a:avLst/>
              <a:gdLst/>
              <a:ahLst/>
              <a:cxnLst/>
              <a:rect r="r" b="b" t="t" l="l"/>
              <a:pathLst>
                <a:path h="887349" w="1009269">
                  <a:moveTo>
                    <a:pt x="0" y="152146"/>
                  </a:moveTo>
                  <a:cubicBezTo>
                    <a:pt x="0" y="68072"/>
                    <a:pt x="68072" y="0"/>
                    <a:pt x="152146" y="0"/>
                  </a:cubicBezTo>
                  <a:lnTo>
                    <a:pt x="857123" y="0"/>
                  </a:lnTo>
                  <a:cubicBezTo>
                    <a:pt x="941070" y="0"/>
                    <a:pt x="1009269" y="68072"/>
                    <a:pt x="1009269" y="152146"/>
                  </a:cubicBezTo>
                  <a:lnTo>
                    <a:pt x="1009269" y="735203"/>
                  </a:lnTo>
                  <a:cubicBezTo>
                    <a:pt x="1009269" y="819150"/>
                    <a:pt x="941197" y="887349"/>
                    <a:pt x="857123" y="887349"/>
                  </a:cubicBezTo>
                  <a:lnTo>
                    <a:pt x="152146" y="887349"/>
                  </a:lnTo>
                  <a:cubicBezTo>
                    <a:pt x="68072" y="887349"/>
                    <a:pt x="0" y="819150"/>
                    <a:pt x="0" y="7352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747504" y="5065776"/>
            <a:ext cx="731520" cy="640080"/>
            <a:chOff x="0" y="0"/>
            <a:chExt cx="97536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753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735056" y="4992624"/>
            <a:ext cx="6839712" cy="585216"/>
            <a:chOff x="0" y="0"/>
            <a:chExt cx="9119616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19616" cy="780288"/>
            </a:xfrm>
            <a:custGeom>
              <a:avLst/>
              <a:gdLst/>
              <a:ahLst/>
              <a:cxnLst/>
              <a:rect r="r" b="b" t="t" l="l"/>
              <a:pathLst>
                <a:path h="780288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119616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Diversify Across Categories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735056" y="5577840"/>
            <a:ext cx="6839712" cy="1280160"/>
            <a:chOff x="0" y="0"/>
            <a:chExt cx="9119616" cy="1706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19616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5" r="0" b="-541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119616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Spread investments across equity, hybrid, and debt to reduce concentration risk and portfolio volatility.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7339079"/>
            <a:ext cx="8437883" cy="2402843"/>
            <a:chOff x="0" y="0"/>
            <a:chExt cx="11250511" cy="32037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250423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3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11004042" y="0"/>
                  </a:lnTo>
                  <a:cubicBezTo>
                    <a:pt x="11140186" y="0"/>
                    <a:pt x="11250423" y="110363"/>
                    <a:pt x="11250423" y="246380"/>
                  </a:cubicBezTo>
                  <a:lnTo>
                    <a:pt x="11250423" y="2957322"/>
                  </a:lnTo>
                  <a:cubicBezTo>
                    <a:pt x="11250423" y="3093466"/>
                    <a:pt x="11140060" y="3203702"/>
                    <a:pt x="11004042" y="3203702"/>
                  </a:cubicBezTo>
                  <a:lnTo>
                    <a:pt x="246380" y="3203702"/>
                  </a:lnTo>
                  <a:cubicBezTo>
                    <a:pt x="110236" y="3203702"/>
                    <a:pt x="0" y="3093339"/>
                    <a:pt x="0" y="295732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65127" y="7704839"/>
            <a:ext cx="756923" cy="665483"/>
            <a:chOff x="0" y="0"/>
            <a:chExt cx="1009231" cy="8873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9269" cy="887349"/>
            </a:xfrm>
            <a:custGeom>
              <a:avLst/>
              <a:gdLst/>
              <a:ahLst/>
              <a:cxnLst/>
              <a:rect r="r" b="b" t="t" l="l"/>
              <a:pathLst>
                <a:path h="887349" w="1009269">
                  <a:moveTo>
                    <a:pt x="0" y="152146"/>
                  </a:moveTo>
                  <a:cubicBezTo>
                    <a:pt x="0" y="68072"/>
                    <a:pt x="68072" y="0"/>
                    <a:pt x="152146" y="0"/>
                  </a:cubicBezTo>
                  <a:lnTo>
                    <a:pt x="857123" y="0"/>
                  </a:lnTo>
                  <a:cubicBezTo>
                    <a:pt x="941070" y="0"/>
                    <a:pt x="1009269" y="68072"/>
                    <a:pt x="1009269" y="152146"/>
                  </a:cubicBezTo>
                  <a:lnTo>
                    <a:pt x="1009269" y="735203"/>
                  </a:lnTo>
                  <a:cubicBezTo>
                    <a:pt x="1009269" y="819150"/>
                    <a:pt x="941197" y="887349"/>
                    <a:pt x="857123" y="887349"/>
                  </a:cubicBezTo>
                  <a:lnTo>
                    <a:pt x="152146" y="887349"/>
                  </a:lnTo>
                  <a:cubicBezTo>
                    <a:pt x="68072" y="887349"/>
                    <a:pt x="0" y="819150"/>
                    <a:pt x="0" y="735203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77824" y="7717536"/>
            <a:ext cx="731520" cy="640080"/>
            <a:chOff x="0" y="0"/>
            <a:chExt cx="975360" cy="853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9753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865376" y="7644384"/>
            <a:ext cx="6839712" cy="585216"/>
            <a:chOff x="0" y="0"/>
            <a:chExt cx="9119616" cy="7802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19616" cy="780288"/>
            </a:xfrm>
            <a:custGeom>
              <a:avLst/>
              <a:gdLst/>
              <a:ahLst/>
              <a:cxnLst/>
              <a:rect r="r" b="b" t="t" l="l"/>
              <a:pathLst>
                <a:path h="780288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119616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Consider Expense Ratios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865376" y="8229600"/>
            <a:ext cx="6839712" cy="1280160"/>
            <a:chOff x="0" y="0"/>
            <a:chExt cx="9119616" cy="17068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19616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5" r="0" b="-5410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119616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Lower TER funds can outperform higher-TER alternatives over long periods due to compounded cost savings.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405623" y="7339079"/>
            <a:ext cx="8437883" cy="2402843"/>
            <a:chOff x="0" y="0"/>
            <a:chExt cx="11250511" cy="32037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250423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3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11004042" y="0"/>
                  </a:lnTo>
                  <a:cubicBezTo>
                    <a:pt x="11140186" y="0"/>
                    <a:pt x="11250423" y="110363"/>
                    <a:pt x="11250423" y="246380"/>
                  </a:cubicBezTo>
                  <a:lnTo>
                    <a:pt x="11250423" y="2957322"/>
                  </a:lnTo>
                  <a:cubicBezTo>
                    <a:pt x="11250423" y="3093466"/>
                    <a:pt x="11140060" y="3203702"/>
                    <a:pt x="11004042" y="3203702"/>
                  </a:cubicBezTo>
                  <a:lnTo>
                    <a:pt x="246380" y="3203702"/>
                  </a:lnTo>
                  <a:cubicBezTo>
                    <a:pt x="110236" y="3203702"/>
                    <a:pt x="0" y="3093339"/>
                    <a:pt x="0" y="295732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734807" y="7704839"/>
            <a:ext cx="756923" cy="665483"/>
            <a:chOff x="0" y="0"/>
            <a:chExt cx="1009231" cy="8873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09269" cy="887349"/>
            </a:xfrm>
            <a:custGeom>
              <a:avLst/>
              <a:gdLst/>
              <a:ahLst/>
              <a:cxnLst/>
              <a:rect r="r" b="b" t="t" l="l"/>
              <a:pathLst>
                <a:path h="887349" w="1009269">
                  <a:moveTo>
                    <a:pt x="0" y="152146"/>
                  </a:moveTo>
                  <a:cubicBezTo>
                    <a:pt x="0" y="68072"/>
                    <a:pt x="68072" y="0"/>
                    <a:pt x="152146" y="0"/>
                  </a:cubicBezTo>
                  <a:lnTo>
                    <a:pt x="857123" y="0"/>
                  </a:lnTo>
                  <a:cubicBezTo>
                    <a:pt x="941070" y="0"/>
                    <a:pt x="1009269" y="68072"/>
                    <a:pt x="1009269" y="152146"/>
                  </a:cubicBezTo>
                  <a:lnTo>
                    <a:pt x="1009269" y="735203"/>
                  </a:lnTo>
                  <a:cubicBezTo>
                    <a:pt x="1009269" y="819150"/>
                    <a:pt x="941197" y="887349"/>
                    <a:pt x="857123" y="887349"/>
                  </a:cubicBezTo>
                  <a:lnTo>
                    <a:pt x="152146" y="887349"/>
                  </a:lnTo>
                  <a:cubicBezTo>
                    <a:pt x="68072" y="887349"/>
                    <a:pt x="0" y="819150"/>
                    <a:pt x="0" y="735203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747504" y="7717536"/>
            <a:ext cx="731520" cy="640080"/>
            <a:chOff x="0" y="0"/>
            <a:chExt cx="97536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7536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9753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735056" y="7644384"/>
            <a:ext cx="6839712" cy="585216"/>
            <a:chOff x="0" y="0"/>
            <a:chExt cx="9119616" cy="7802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19616" cy="780288"/>
            </a:xfrm>
            <a:custGeom>
              <a:avLst/>
              <a:gdLst/>
              <a:ahLst/>
              <a:cxnLst/>
              <a:rect r="r" b="b" t="t" l="l"/>
              <a:pathLst>
                <a:path h="780288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119616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Enhance Investor Engagement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735056" y="8229600"/>
            <a:ext cx="6839712" cy="1280160"/>
            <a:chOff x="0" y="0"/>
            <a:chExt cx="9119616" cy="17068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19616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19616">
                  <a:moveTo>
                    <a:pt x="0" y="0"/>
                  </a:moveTo>
                  <a:lnTo>
                    <a:pt x="9119616" y="0"/>
                  </a:lnTo>
                  <a:lnTo>
                    <a:pt x="911961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5" r="0" b="-5410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119616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demographic &amp; transaction analytics to design targeted retention programs for at-risk SIP investors.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LIMITATIONS &amp; 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52144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Constraints · Planned Enhancements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1907543"/>
            <a:ext cx="8072123" cy="7889243"/>
            <a:chOff x="0" y="0"/>
            <a:chExt cx="10762831" cy="10518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869" cy="10519029"/>
            </a:xfrm>
            <a:custGeom>
              <a:avLst/>
              <a:gdLst/>
              <a:ahLst/>
              <a:cxnLst/>
              <a:rect r="r" b="b" t="t" l="l"/>
              <a:pathLst>
                <a:path h="10519029" w="1076286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469245" y="0"/>
                  </a:lnTo>
                  <a:cubicBezTo>
                    <a:pt x="10631424" y="0"/>
                    <a:pt x="10762869" y="131445"/>
                    <a:pt x="10762869" y="293624"/>
                  </a:cubicBezTo>
                  <a:lnTo>
                    <a:pt x="10762869" y="10225405"/>
                  </a:lnTo>
                  <a:cubicBezTo>
                    <a:pt x="10762869" y="10387585"/>
                    <a:pt x="10631424" y="10519029"/>
                    <a:pt x="10469245" y="10519029"/>
                  </a:cubicBezTo>
                  <a:lnTo>
                    <a:pt x="293624" y="10519029"/>
                  </a:lnTo>
                  <a:cubicBezTo>
                    <a:pt x="131445" y="10519029"/>
                    <a:pt x="0" y="10387584"/>
                    <a:pt x="0" y="10225405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103120"/>
            <a:ext cx="6949440" cy="548640"/>
            <a:chOff x="0" y="0"/>
            <a:chExt cx="92659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65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8279" y="3023111"/>
            <a:ext cx="318011" cy="318011"/>
            <a:chOff x="0" y="0"/>
            <a:chExt cx="424015" cy="4240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99616" y="2852928"/>
            <a:ext cx="6766560" cy="438912"/>
            <a:chOff x="0" y="0"/>
            <a:chExt cx="902208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585216"/>
            </a:xfrm>
            <a:custGeom>
              <a:avLst/>
              <a:gdLst/>
              <a:ahLst/>
              <a:cxnLst/>
              <a:rect r="r" b="b" t="t" l="l"/>
              <a:pathLst>
                <a:path h="5852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022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Sector Allocation 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9616" y="3291840"/>
            <a:ext cx="6766560" cy="658368"/>
            <a:chOff x="0" y="0"/>
            <a:chExt cx="902208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2080" cy="877824"/>
            </a:xfrm>
            <a:custGeom>
              <a:avLst/>
              <a:gdLst/>
              <a:ahLst/>
              <a:cxnLst/>
              <a:rect r="r" b="b" t="t" l="l"/>
              <a:pathLst>
                <a:path h="87782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0220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Portfolio holdings and HHI concentration analysis not feasible with current datasets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8279" y="4339847"/>
            <a:ext cx="318011" cy="318011"/>
            <a:chOff x="0" y="0"/>
            <a:chExt cx="424015" cy="4240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99616" y="4169664"/>
            <a:ext cx="6766560" cy="438912"/>
            <a:chOff x="0" y="0"/>
            <a:chExt cx="902208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22080" cy="585216"/>
            </a:xfrm>
            <a:custGeom>
              <a:avLst/>
              <a:gdLst/>
              <a:ahLst/>
              <a:cxnLst/>
              <a:rect r="r" b="b" t="t" l="l"/>
              <a:pathLst>
                <a:path h="5852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022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Historical Data Only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99616" y="4608576"/>
            <a:ext cx="6766560" cy="658368"/>
            <a:chOff x="0" y="0"/>
            <a:chExt cx="9022080" cy="8778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22080" cy="877824"/>
            </a:xfrm>
            <a:custGeom>
              <a:avLst/>
              <a:gdLst/>
              <a:ahLst/>
              <a:cxnLst/>
              <a:rect r="r" b="b" t="t" l="l"/>
              <a:pathLst>
                <a:path h="87782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0220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Insights are backward-looking; future performance prediction requires ML models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8279" y="5656583"/>
            <a:ext cx="318011" cy="318011"/>
            <a:chOff x="0" y="0"/>
            <a:chExt cx="424015" cy="4240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99616" y="5486400"/>
            <a:ext cx="6766560" cy="438912"/>
            <a:chOff x="0" y="0"/>
            <a:chExt cx="902208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22080" cy="585216"/>
            </a:xfrm>
            <a:custGeom>
              <a:avLst/>
              <a:gdLst/>
              <a:ahLst/>
              <a:cxnLst/>
              <a:rect r="r" b="b" t="t" l="l"/>
              <a:pathLst>
                <a:path h="5852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022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 Benchmark Coverage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9616" y="5925312"/>
            <a:ext cx="6766560" cy="658368"/>
            <a:chOff x="0" y="0"/>
            <a:chExt cx="9022080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022080" cy="877824"/>
            </a:xfrm>
            <a:custGeom>
              <a:avLst/>
              <a:gdLst/>
              <a:ahLst/>
              <a:cxnLst/>
              <a:rect r="r" b="b" t="t" l="l"/>
              <a:pathLst>
                <a:path h="87782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0220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Benchmark comparisons restricted to indices available in the provided dataset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8279" y="6973319"/>
            <a:ext cx="318011" cy="318011"/>
            <a:chOff x="0" y="0"/>
            <a:chExt cx="424015" cy="42401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99616" y="6803136"/>
            <a:ext cx="6766560" cy="438912"/>
            <a:chOff x="0" y="0"/>
            <a:chExt cx="902208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585216"/>
            </a:xfrm>
            <a:custGeom>
              <a:avLst/>
              <a:gdLst/>
              <a:ahLst/>
              <a:cxnLst/>
              <a:rect r="r" b="b" t="t" l="l"/>
              <a:pathLst>
                <a:path h="5852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022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Rule-Based Recommendations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99616" y="7242048"/>
            <a:ext cx="6766560" cy="658368"/>
            <a:chOff x="0" y="0"/>
            <a:chExt cx="902208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22080" cy="877824"/>
            </a:xfrm>
            <a:custGeom>
              <a:avLst/>
              <a:gdLst/>
              <a:ahLst/>
              <a:cxnLst/>
              <a:rect r="r" b="b" t="t" l="l"/>
              <a:pathLst>
                <a:path h="87782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0220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 recommendation engine uses static rules; no ML or personalized preference modeling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8279" y="8290055"/>
            <a:ext cx="318011" cy="318011"/>
            <a:chOff x="0" y="0"/>
            <a:chExt cx="424015" cy="4240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499616" y="8119872"/>
            <a:ext cx="6766560" cy="438912"/>
            <a:chOff x="0" y="0"/>
            <a:chExt cx="902208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022080" cy="585216"/>
            </a:xfrm>
            <a:custGeom>
              <a:avLst/>
              <a:gdLst/>
              <a:ahLst/>
              <a:cxnLst/>
              <a:rect r="r" b="b" t="t" l="l"/>
              <a:pathLst>
                <a:path h="5852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022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Real-Time Integration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99616" y="8558784"/>
            <a:ext cx="6766560" cy="658368"/>
            <a:chOff x="0" y="0"/>
            <a:chExt cx="9022080" cy="8778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022080" cy="877824"/>
            </a:xfrm>
            <a:custGeom>
              <a:avLst/>
              <a:gdLst/>
              <a:ahLst/>
              <a:cxnLst/>
              <a:rect r="r" b="b" t="t" l="l"/>
              <a:pathLst>
                <a:path h="87782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0220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Platform operates on static files; live NAV feeds and market data not yet integrated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14183" y="1907543"/>
            <a:ext cx="8437883" cy="7889243"/>
            <a:chOff x="0" y="0"/>
            <a:chExt cx="11250511" cy="105189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50549" cy="10519029"/>
            </a:xfrm>
            <a:custGeom>
              <a:avLst/>
              <a:gdLst/>
              <a:ahLst/>
              <a:cxnLst/>
              <a:rect r="r" b="b" t="t" l="l"/>
              <a:pathLst>
                <a:path h="10519029" w="1125054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956925" y="0"/>
                  </a:lnTo>
                  <a:cubicBezTo>
                    <a:pt x="11119104" y="0"/>
                    <a:pt x="11250549" y="131445"/>
                    <a:pt x="11250549" y="293624"/>
                  </a:cubicBezTo>
                  <a:lnTo>
                    <a:pt x="11250549" y="10225405"/>
                  </a:lnTo>
                  <a:cubicBezTo>
                    <a:pt x="11250549" y="10387585"/>
                    <a:pt x="11119104" y="10519029"/>
                    <a:pt x="10956925" y="10519029"/>
                  </a:cubicBezTo>
                  <a:lnTo>
                    <a:pt x="293624" y="10519029"/>
                  </a:lnTo>
                  <a:cubicBezTo>
                    <a:pt x="131445" y="10519029"/>
                    <a:pt x="0" y="10387584"/>
                    <a:pt x="0" y="10225405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692640" y="2103120"/>
            <a:ext cx="7315200" cy="548640"/>
            <a:chOff x="0" y="0"/>
            <a:chExt cx="97536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ENHANCEMENTS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656064" y="3054096"/>
            <a:ext cx="548640" cy="548640"/>
            <a:chOff x="0" y="0"/>
            <a:chExt cx="731520" cy="73152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424160" y="2944368"/>
            <a:ext cx="7040880" cy="475488"/>
            <a:chOff x="0" y="0"/>
            <a:chExt cx="938784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87840" cy="633984"/>
            </a:xfrm>
            <a:custGeom>
              <a:avLst/>
              <a:gdLst/>
              <a:ahLst/>
              <a:cxnLst/>
              <a:rect r="r" b="b" t="t" l="l"/>
              <a:pathLst>
                <a:path h="63398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528" r="0" b="-23852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387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Recommendation Engine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424160" y="3419856"/>
            <a:ext cx="7040880" cy="841248"/>
            <a:chOff x="0" y="0"/>
            <a:chExt cx="9387840" cy="11216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3878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1" r="0" b="-1130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38784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Personalized fund suggestions using collaborative filtering &amp; user profile clustering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56064" y="4700016"/>
            <a:ext cx="548640" cy="548640"/>
            <a:chOff x="0" y="0"/>
            <a:chExt cx="731520" cy="73152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424160" y="4590288"/>
            <a:ext cx="7040880" cy="475488"/>
            <a:chOff x="0" y="0"/>
            <a:chExt cx="9387840" cy="6339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387840" cy="633984"/>
            </a:xfrm>
            <a:custGeom>
              <a:avLst/>
              <a:gdLst/>
              <a:ahLst/>
              <a:cxnLst/>
              <a:rect r="r" b="b" t="t" l="l"/>
              <a:pathLst>
                <a:path h="63398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528" r="0" b="-23852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387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NAV API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424160" y="5065776"/>
            <a:ext cx="7040880" cy="841248"/>
            <a:chOff x="0" y="0"/>
            <a:chExt cx="9387840" cy="11216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3878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1" r="0" b="-11308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938784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AMFI API integration for real-time NAV tracking and portfolio valuation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56064" y="6345936"/>
            <a:ext cx="548640" cy="548640"/>
            <a:chOff x="0" y="0"/>
            <a:chExt cx="731520" cy="73152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424160" y="6236208"/>
            <a:ext cx="7040880" cy="475488"/>
            <a:chOff x="0" y="0"/>
            <a:chExt cx="9387840" cy="6339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387840" cy="633984"/>
            </a:xfrm>
            <a:custGeom>
              <a:avLst/>
              <a:gdLst/>
              <a:ahLst/>
              <a:cxnLst/>
              <a:rect r="r" b="b" t="t" l="l"/>
              <a:pathLst>
                <a:path h="63398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528" r="0" b="-23852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387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Optimization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424160" y="6711696"/>
            <a:ext cx="7040880" cy="841248"/>
            <a:chOff x="0" y="0"/>
            <a:chExt cx="9387840" cy="112166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3878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1" r="0" b="-11308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38784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Markowitz efficient frontier, risk parity, and Black-Litterman portfolio models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56064" y="7991856"/>
            <a:ext cx="548640" cy="548640"/>
            <a:chOff x="0" y="0"/>
            <a:chExt cx="731520" cy="731520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424160" y="7882128"/>
            <a:ext cx="7040880" cy="475488"/>
            <a:chOff x="0" y="0"/>
            <a:chExt cx="938784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387840" cy="633984"/>
            </a:xfrm>
            <a:custGeom>
              <a:avLst/>
              <a:gdLst/>
              <a:ahLst/>
              <a:cxnLst/>
              <a:rect r="r" b="b" t="t" l="l"/>
              <a:pathLst>
                <a:path h="63398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528" r="0" b="-23852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387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B8D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Investor Segmentation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424160" y="8357616"/>
            <a:ext cx="7040880" cy="841248"/>
            <a:chOff x="0" y="0"/>
            <a:chExt cx="9387840" cy="11216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3878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1" r="0" b="-11308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38784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Behavioral clustering using K-Means and DBSCAN for targeted engagement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133856"/>
            <a:chOff x="0" y="0"/>
            <a:chExt cx="21945600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IMPACT &amp; SKILLS DEMONSTRATED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097280"/>
            <a:ext cx="16459200" cy="658368"/>
            <a:chOff x="0" y="0"/>
            <a:chExt cx="21945600" cy="877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Technical Competencies · Business Value · Portfolio Showcase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035559"/>
            <a:ext cx="8437883" cy="1762763"/>
            <a:chOff x="0" y="0"/>
            <a:chExt cx="11250511" cy="23503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5042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125042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1052556" y="0"/>
                  </a:lnTo>
                  <a:cubicBezTo>
                    <a:pt x="11161903" y="0"/>
                    <a:pt x="11250422" y="88646"/>
                    <a:pt x="11250422" y="197866"/>
                  </a:cubicBezTo>
                  <a:lnTo>
                    <a:pt x="11250422" y="2152396"/>
                  </a:lnTo>
                  <a:cubicBezTo>
                    <a:pt x="11250422" y="2261743"/>
                    <a:pt x="11161776" y="2350262"/>
                    <a:pt x="110525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7824" y="2231136"/>
            <a:ext cx="5486400" cy="512064"/>
            <a:chOff x="0" y="0"/>
            <a:chExt cx="731520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83680" y="2231136"/>
            <a:ext cx="2103120" cy="438912"/>
            <a:chOff x="0" y="0"/>
            <a:chExt cx="280416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80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Programming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5127" y="2986535"/>
            <a:ext cx="6974843" cy="354587"/>
            <a:chOff x="0" y="0"/>
            <a:chExt cx="9299791" cy="4727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99829" cy="472821"/>
            </a:xfrm>
            <a:custGeom>
              <a:avLst/>
              <a:gdLst/>
              <a:ahLst/>
              <a:cxnLst/>
              <a:rect r="r" b="b" t="t" l="l"/>
              <a:pathLst>
                <a:path h="472821" w="9299829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9168511" y="0"/>
                  </a:lnTo>
                  <a:cubicBezTo>
                    <a:pt x="9241028" y="0"/>
                    <a:pt x="9299829" y="58801"/>
                    <a:pt x="9299829" y="131318"/>
                  </a:cubicBezTo>
                  <a:lnTo>
                    <a:pt x="9299829" y="341503"/>
                  </a:lnTo>
                  <a:cubicBezTo>
                    <a:pt x="9299829" y="414020"/>
                    <a:pt x="9241028" y="472821"/>
                    <a:pt x="9168511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65127" y="2986535"/>
            <a:ext cx="6279899" cy="354587"/>
            <a:chOff x="0" y="0"/>
            <a:chExt cx="8373199" cy="4727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73237" cy="472821"/>
            </a:xfrm>
            <a:custGeom>
              <a:avLst/>
              <a:gdLst/>
              <a:ahLst/>
              <a:cxnLst/>
              <a:rect r="r" b="b" t="t" l="l"/>
              <a:pathLst>
                <a:path h="472821" w="8373237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8241919" y="0"/>
                  </a:lnTo>
                  <a:cubicBezTo>
                    <a:pt x="8314436" y="0"/>
                    <a:pt x="8373237" y="58801"/>
                    <a:pt x="8373237" y="131318"/>
                  </a:cubicBezTo>
                  <a:lnTo>
                    <a:pt x="8373237" y="341503"/>
                  </a:lnTo>
                  <a:cubicBezTo>
                    <a:pt x="8373237" y="414020"/>
                    <a:pt x="8314436" y="472821"/>
                    <a:pt x="8241919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955280" y="2962656"/>
            <a:ext cx="768096" cy="402336"/>
            <a:chOff x="0" y="0"/>
            <a:chExt cx="1024128" cy="5364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2412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97063" y="2035559"/>
            <a:ext cx="8437883" cy="1762763"/>
            <a:chOff x="0" y="0"/>
            <a:chExt cx="11250511" cy="23503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5042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125042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1052556" y="0"/>
                  </a:lnTo>
                  <a:cubicBezTo>
                    <a:pt x="11161903" y="0"/>
                    <a:pt x="11250422" y="88646"/>
                    <a:pt x="11250422" y="197866"/>
                  </a:cubicBezTo>
                  <a:lnTo>
                    <a:pt x="11250422" y="2152396"/>
                  </a:lnTo>
                  <a:cubicBezTo>
                    <a:pt x="11250422" y="2261743"/>
                    <a:pt x="11161776" y="2350262"/>
                    <a:pt x="110525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38944" y="2231136"/>
            <a:ext cx="5486400" cy="512064"/>
            <a:chOff x="0" y="0"/>
            <a:chExt cx="731520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Pandas / NumPy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544800" y="2231136"/>
            <a:ext cx="2103120" cy="438912"/>
            <a:chOff x="0" y="0"/>
            <a:chExt cx="280416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0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80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Wrangling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26247" y="2986535"/>
            <a:ext cx="6974843" cy="354587"/>
            <a:chOff x="0" y="0"/>
            <a:chExt cx="9299791" cy="4727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99829" cy="472821"/>
            </a:xfrm>
            <a:custGeom>
              <a:avLst/>
              <a:gdLst/>
              <a:ahLst/>
              <a:cxnLst/>
              <a:rect r="r" b="b" t="t" l="l"/>
              <a:pathLst>
                <a:path h="472821" w="9299829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9168511" y="0"/>
                  </a:lnTo>
                  <a:cubicBezTo>
                    <a:pt x="9241028" y="0"/>
                    <a:pt x="9299829" y="58801"/>
                    <a:pt x="9299829" y="131318"/>
                  </a:cubicBezTo>
                  <a:lnTo>
                    <a:pt x="9299829" y="341503"/>
                  </a:lnTo>
                  <a:cubicBezTo>
                    <a:pt x="9299829" y="414020"/>
                    <a:pt x="9241028" y="472821"/>
                    <a:pt x="9168511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826247" y="2986535"/>
            <a:ext cx="6140910" cy="354587"/>
            <a:chOff x="0" y="0"/>
            <a:chExt cx="8187880" cy="4727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87817" cy="472821"/>
            </a:xfrm>
            <a:custGeom>
              <a:avLst/>
              <a:gdLst/>
              <a:ahLst/>
              <a:cxnLst/>
              <a:rect r="r" b="b" t="t" l="l"/>
              <a:pathLst>
                <a:path h="472821" w="8187817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8056499" y="0"/>
                  </a:lnTo>
                  <a:cubicBezTo>
                    <a:pt x="8129016" y="0"/>
                    <a:pt x="8187817" y="58801"/>
                    <a:pt x="8187817" y="131318"/>
                  </a:cubicBezTo>
                  <a:lnTo>
                    <a:pt x="8187817" y="341503"/>
                  </a:lnTo>
                  <a:cubicBezTo>
                    <a:pt x="8187817" y="414020"/>
                    <a:pt x="8129016" y="472821"/>
                    <a:pt x="8056499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6916400" y="2962656"/>
            <a:ext cx="768096" cy="402336"/>
            <a:chOff x="0" y="0"/>
            <a:chExt cx="1024128" cy="5364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2412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88%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35943" y="4047239"/>
            <a:ext cx="8437883" cy="1762763"/>
            <a:chOff x="0" y="0"/>
            <a:chExt cx="11250511" cy="23503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5042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125042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1052556" y="0"/>
                  </a:lnTo>
                  <a:cubicBezTo>
                    <a:pt x="11161903" y="0"/>
                    <a:pt x="11250422" y="88646"/>
                    <a:pt x="11250422" y="197866"/>
                  </a:cubicBezTo>
                  <a:lnTo>
                    <a:pt x="11250422" y="2152396"/>
                  </a:lnTo>
                  <a:cubicBezTo>
                    <a:pt x="11250422" y="2261743"/>
                    <a:pt x="11161776" y="2350262"/>
                    <a:pt x="110525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77824" y="4242816"/>
            <a:ext cx="5486400" cy="512064"/>
            <a:chOff x="0" y="0"/>
            <a:chExt cx="731520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/ SQL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83680" y="4242816"/>
            <a:ext cx="2103120" cy="438912"/>
            <a:chOff x="0" y="0"/>
            <a:chExt cx="280416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0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80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65127" y="4998215"/>
            <a:ext cx="6974843" cy="354587"/>
            <a:chOff x="0" y="0"/>
            <a:chExt cx="9299791" cy="47278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99829" cy="472821"/>
            </a:xfrm>
            <a:custGeom>
              <a:avLst/>
              <a:gdLst/>
              <a:ahLst/>
              <a:cxnLst/>
              <a:rect r="r" b="b" t="t" l="l"/>
              <a:pathLst>
                <a:path h="472821" w="9299829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9168511" y="0"/>
                  </a:lnTo>
                  <a:cubicBezTo>
                    <a:pt x="9241028" y="0"/>
                    <a:pt x="9299829" y="58801"/>
                    <a:pt x="9299829" y="131318"/>
                  </a:cubicBezTo>
                  <a:lnTo>
                    <a:pt x="9299829" y="341503"/>
                  </a:lnTo>
                  <a:cubicBezTo>
                    <a:pt x="9299829" y="414020"/>
                    <a:pt x="9241028" y="472821"/>
                    <a:pt x="9168511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65127" y="4998215"/>
            <a:ext cx="5723944" cy="354587"/>
            <a:chOff x="0" y="0"/>
            <a:chExt cx="7631925" cy="4727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31938" cy="472821"/>
            </a:xfrm>
            <a:custGeom>
              <a:avLst/>
              <a:gdLst/>
              <a:ahLst/>
              <a:cxnLst/>
              <a:rect r="r" b="b" t="t" l="l"/>
              <a:pathLst>
                <a:path h="472821" w="7631938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7500620" y="0"/>
                  </a:lnTo>
                  <a:cubicBezTo>
                    <a:pt x="7573137" y="0"/>
                    <a:pt x="7631938" y="58801"/>
                    <a:pt x="7631938" y="131318"/>
                  </a:cubicBezTo>
                  <a:lnTo>
                    <a:pt x="7631938" y="341503"/>
                  </a:lnTo>
                  <a:cubicBezTo>
                    <a:pt x="7631938" y="414020"/>
                    <a:pt x="7573137" y="472821"/>
                    <a:pt x="7500620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955280" y="4974336"/>
            <a:ext cx="768096" cy="402336"/>
            <a:chOff x="0" y="0"/>
            <a:chExt cx="1024128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82%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97063" y="4047239"/>
            <a:ext cx="8437883" cy="1762763"/>
            <a:chOff x="0" y="0"/>
            <a:chExt cx="11250511" cy="23503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5042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125042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1052556" y="0"/>
                  </a:lnTo>
                  <a:cubicBezTo>
                    <a:pt x="11161903" y="0"/>
                    <a:pt x="11250422" y="88646"/>
                    <a:pt x="11250422" y="197866"/>
                  </a:cubicBezTo>
                  <a:lnTo>
                    <a:pt x="11250422" y="2152396"/>
                  </a:lnTo>
                  <a:cubicBezTo>
                    <a:pt x="11250422" y="2261743"/>
                    <a:pt x="11161776" y="2350262"/>
                    <a:pt x="110525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838944" y="4242816"/>
            <a:ext cx="5486400" cy="512064"/>
            <a:chOff x="0" y="0"/>
            <a:chExt cx="7315200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544800" y="4242816"/>
            <a:ext cx="2103120" cy="438912"/>
            <a:chOff x="0" y="0"/>
            <a:chExt cx="2804160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0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80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26247" y="4998215"/>
            <a:ext cx="6974843" cy="354587"/>
            <a:chOff x="0" y="0"/>
            <a:chExt cx="9299791" cy="4727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99829" cy="472821"/>
            </a:xfrm>
            <a:custGeom>
              <a:avLst/>
              <a:gdLst/>
              <a:ahLst/>
              <a:cxnLst/>
              <a:rect r="r" b="b" t="t" l="l"/>
              <a:pathLst>
                <a:path h="472821" w="9299829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9168511" y="0"/>
                  </a:lnTo>
                  <a:cubicBezTo>
                    <a:pt x="9241028" y="0"/>
                    <a:pt x="9299829" y="58801"/>
                    <a:pt x="9299829" y="131318"/>
                  </a:cubicBezTo>
                  <a:lnTo>
                    <a:pt x="9299829" y="341503"/>
                  </a:lnTo>
                  <a:cubicBezTo>
                    <a:pt x="9299829" y="414020"/>
                    <a:pt x="9241028" y="472821"/>
                    <a:pt x="9168511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826247" y="4998215"/>
            <a:ext cx="5932427" cy="354587"/>
            <a:chOff x="0" y="0"/>
            <a:chExt cx="7909903" cy="47278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909941" cy="472821"/>
            </a:xfrm>
            <a:custGeom>
              <a:avLst/>
              <a:gdLst/>
              <a:ahLst/>
              <a:cxnLst/>
              <a:rect r="r" b="b" t="t" l="l"/>
              <a:pathLst>
                <a:path h="472821" w="7909941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7778623" y="0"/>
                  </a:lnTo>
                  <a:cubicBezTo>
                    <a:pt x="7851140" y="0"/>
                    <a:pt x="7909941" y="58801"/>
                    <a:pt x="7909941" y="131318"/>
                  </a:cubicBezTo>
                  <a:lnTo>
                    <a:pt x="7909941" y="341503"/>
                  </a:lnTo>
                  <a:cubicBezTo>
                    <a:pt x="7909941" y="414020"/>
                    <a:pt x="7851140" y="472821"/>
                    <a:pt x="7778623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6916400" y="4974336"/>
            <a:ext cx="768096" cy="402336"/>
            <a:chOff x="0" y="0"/>
            <a:chExt cx="1024128" cy="5364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4128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2412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35943" y="6058919"/>
            <a:ext cx="8437883" cy="1762763"/>
            <a:chOff x="0" y="0"/>
            <a:chExt cx="11250511" cy="23503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25042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125042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1052556" y="0"/>
                  </a:lnTo>
                  <a:cubicBezTo>
                    <a:pt x="11161903" y="0"/>
                    <a:pt x="11250422" y="88646"/>
                    <a:pt x="11250422" y="197866"/>
                  </a:cubicBezTo>
                  <a:lnTo>
                    <a:pt x="11250422" y="2152396"/>
                  </a:lnTo>
                  <a:cubicBezTo>
                    <a:pt x="11250422" y="2261743"/>
                    <a:pt x="11161776" y="2350262"/>
                    <a:pt x="110525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77824" y="6254496"/>
            <a:ext cx="5486400" cy="512064"/>
            <a:chOff x="0" y="0"/>
            <a:chExt cx="731520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Analytics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583680" y="6254496"/>
            <a:ext cx="2103120" cy="438912"/>
            <a:chOff x="0" y="0"/>
            <a:chExt cx="280416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80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80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 Knowledge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65127" y="7009895"/>
            <a:ext cx="6974843" cy="354587"/>
            <a:chOff x="0" y="0"/>
            <a:chExt cx="9299791" cy="47278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99829" cy="472821"/>
            </a:xfrm>
            <a:custGeom>
              <a:avLst/>
              <a:gdLst/>
              <a:ahLst/>
              <a:cxnLst/>
              <a:rect r="r" b="b" t="t" l="l"/>
              <a:pathLst>
                <a:path h="472821" w="9299829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9168511" y="0"/>
                  </a:lnTo>
                  <a:cubicBezTo>
                    <a:pt x="9241028" y="0"/>
                    <a:pt x="9299829" y="58801"/>
                    <a:pt x="9299829" y="131318"/>
                  </a:cubicBezTo>
                  <a:lnTo>
                    <a:pt x="9299829" y="341503"/>
                  </a:lnTo>
                  <a:cubicBezTo>
                    <a:pt x="9299829" y="414020"/>
                    <a:pt x="9241028" y="472821"/>
                    <a:pt x="9168511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865127" y="7009895"/>
            <a:ext cx="5584955" cy="354587"/>
            <a:chOff x="0" y="0"/>
            <a:chExt cx="7446607" cy="47278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446645" cy="472821"/>
            </a:xfrm>
            <a:custGeom>
              <a:avLst/>
              <a:gdLst/>
              <a:ahLst/>
              <a:cxnLst/>
              <a:rect r="r" b="b" t="t" l="l"/>
              <a:pathLst>
                <a:path h="472821" w="7446645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7315327" y="0"/>
                  </a:lnTo>
                  <a:cubicBezTo>
                    <a:pt x="7387844" y="0"/>
                    <a:pt x="7446645" y="58801"/>
                    <a:pt x="7446645" y="131318"/>
                  </a:cubicBezTo>
                  <a:lnTo>
                    <a:pt x="7446645" y="341503"/>
                  </a:lnTo>
                  <a:cubicBezTo>
                    <a:pt x="7446645" y="414020"/>
                    <a:pt x="7387844" y="472821"/>
                    <a:pt x="7315327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7955280" y="6986016"/>
            <a:ext cx="768096" cy="402336"/>
            <a:chOff x="0" y="0"/>
            <a:chExt cx="1024128" cy="5364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4128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2412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497063" y="6058919"/>
            <a:ext cx="8437883" cy="1762763"/>
            <a:chOff x="0" y="0"/>
            <a:chExt cx="11250511" cy="235035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250422" cy="2350262"/>
            </a:xfrm>
            <a:custGeom>
              <a:avLst/>
              <a:gdLst/>
              <a:ahLst/>
              <a:cxnLst/>
              <a:rect r="r" b="b" t="t" l="l"/>
              <a:pathLst>
                <a:path h="2350262" w="1125042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1052556" y="0"/>
                  </a:lnTo>
                  <a:cubicBezTo>
                    <a:pt x="11161903" y="0"/>
                    <a:pt x="11250422" y="88646"/>
                    <a:pt x="11250422" y="197866"/>
                  </a:cubicBezTo>
                  <a:lnTo>
                    <a:pt x="11250422" y="2152396"/>
                  </a:lnTo>
                  <a:cubicBezTo>
                    <a:pt x="11250422" y="2261743"/>
                    <a:pt x="11161776" y="2350262"/>
                    <a:pt x="110525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838944" y="6254496"/>
            <a:ext cx="5486400" cy="512064"/>
            <a:chOff x="0" y="0"/>
            <a:chExt cx="731520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Visualization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5544800" y="6254496"/>
            <a:ext cx="2103120" cy="438912"/>
            <a:chOff x="0" y="0"/>
            <a:chExt cx="2804160" cy="58521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80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280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Communication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826247" y="7009895"/>
            <a:ext cx="6974843" cy="354587"/>
            <a:chOff x="0" y="0"/>
            <a:chExt cx="9299791" cy="47278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299829" cy="472821"/>
            </a:xfrm>
            <a:custGeom>
              <a:avLst/>
              <a:gdLst/>
              <a:ahLst/>
              <a:cxnLst/>
              <a:rect r="r" b="b" t="t" l="l"/>
              <a:pathLst>
                <a:path h="472821" w="9299829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9168511" y="0"/>
                  </a:lnTo>
                  <a:cubicBezTo>
                    <a:pt x="9241028" y="0"/>
                    <a:pt x="9299829" y="58801"/>
                    <a:pt x="9299829" y="131318"/>
                  </a:cubicBezTo>
                  <a:lnTo>
                    <a:pt x="9299829" y="341503"/>
                  </a:lnTo>
                  <a:cubicBezTo>
                    <a:pt x="9299829" y="414020"/>
                    <a:pt x="9241028" y="472821"/>
                    <a:pt x="9168511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826247" y="7009895"/>
            <a:ext cx="6071416" cy="354587"/>
            <a:chOff x="0" y="0"/>
            <a:chExt cx="8095221" cy="47278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095235" cy="472821"/>
            </a:xfrm>
            <a:custGeom>
              <a:avLst/>
              <a:gdLst/>
              <a:ahLst/>
              <a:cxnLst/>
              <a:rect r="r" b="b" t="t" l="l"/>
              <a:pathLst>
                <a:path h="472821" w="8095235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7963916" y="0"/>
                  </a:lnTo>
                  <a:cubicBezTo>
                    <a:pt x="8036433" y="0"/>
                    <a:pt x="8095235" y="58801"/>
                    <a:pt x="8095235" y="131318"/>
                  </a:cubicBezTo>
                  <a:lnTo>
                    <a:pt x="8095235" y="341503"/>
                  </a:lnTo>
                  <a:cubicBezTo>
                    <a:pt x="8095235" y="414020"/>
                    <a:pt x="8036433" y="472821"/>
                    <a:pt x="7963916" y="472821"/>
                  </a:cubicBezTo>
                  <a:lnTo>
                    <a:pt x="131318" y="472821"/>
                  </a:lnTo>
                  <a:cubicBezTo>
                    <a:pt x="58801" y="472821"/>
                    <a:pt x="0" y="414020"/>
                    <a:pt x="0" y="341503"/>
                  </a:cubicBez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6916400" y="6986016"/>
            <a:ext cx="768096" cy="402336"/>
            <a:chOff x="0" y="0"/>
            <a:chExt cx="1024128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4128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02412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87%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35943" y="8125463"/>
            <a:ext cx="17216123" cy="1817627"/>
            <a:chOff x="0" y="0"/>
            <a:chExt cx="22954831" cy="242350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954742" cy="2423414"/>
            </a:xfrm>
            <a:custGeom>
              <a:avLst/>
              <a:gdLst/>
              <a:ahLst/>
              <a:cxnLst/>
              <a:rect r="r" b="b" t="t" l="l"/>
              <a:pathLst>
                <a:path h="2423414" w="22954742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2707473" y="0"/>
                  </a:lnTo>
                  <a:cubicBezTo>
                    <a:pt x="22843998" y="0"/>
                    <a:pt x="22954742" y="110744"/>
                    <a:pt x="22954742" y="247269"/>
                  </a:cubicBezTo>
                  <a:lnTo>
                    <a:pt x="22954742" y="2176145"/>
                  </a:lnTo>
                  <a:cubicBezTo>
                    <a:pt x="22954742" y="2312670"/>
                    <a:pt x="22843998" y="2423414"/>
                    <a:pt x="22707473" y="2423414"/>
                  </a:cubicBezTo>
                  <a:lnTo>
                    <a:pt x="247269" y="2423414"/>
                  </a:lnTo>
                  <a:cubicBezTo>
                    <a:pt x="110744" y="2423541"/>
                    <a:pt x="0" y="2312797"/>
                    <a:pt x="0" y="2176145"/>
                  </a:cubicBezTo>
                  <a:close/>
                </a:path>
              </a:pathLst>
            </a:custGeom>
            <a:solidFill>
              <a:srgbClr val="E8F4FD"/>
            </a:solidFill>
            <a:ln w="25400" cap="sq">
              <a:solidFill>
                <a:srgbClr val="D1E9F7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05840" y="8284464"/>
            <a:ext cx="16459200" cy="1499616"/>
            <a:chOff x="0" y="0"/>
            <a:chExt cx="21945600" cy="199948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19456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860" r="0" b="-16386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194560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25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VALUE: End-to-end analytics solution integrating data engineering, statistical modeling, financial domain expertise, and executive-grade visualization — demonstrating full-stack business intelligence capability suitable for internship, analyst, or BI roles.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0118855"/>
            <a:ext cx="18313403" cy="171707"/>
            <a:chOff x="0" y="0"/>
            <a:chExt cx="24417871" cy="228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423143" y="2181863"/>
            <a:ext cx="6974843" cy="6974843"/>
            <a:chOff x="0" y="0"/>
            <a:chExt cx="9299791" cy="9299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9829" cy="9299829"/>
            </a:xfrm>
            <a:custGeom>
              <a:avLst/>
              <a:gdLst/>
              <a:ahLst/>
              <a:cxnLst/>
              <a:rect r="r" b="b" t="t" l="l"/>
              <a:pathLst>
                <a:path h="9299829" w="9299829">
                  <a:moveTo>
                    <a:pt x="0" y="4649851"/>
                  </a:moveTo>
                  <a:cubicBezTo>
                    <a:pt x="0" y="2081784"/>
                    <a:pt x="2081784" y="0"/>
                    <a:pt x="4649851" y="0"/>
                  </a:cubicBezTo>
                  <a:cubicBezTo>
                    <a:pt x="7217918" y="0"/>
                    <a:pt x="9299829" y="2081784"/>
                    <a:pt x="9299829" y="4649851"/>
                  </a:cubicBezTo>
                  <a:cubicBezTo>
                    <a:pt x="9299829" y="7217918"/>
                    <a:pt x="7217918" y="9299829"/>
                    <a:pt x="4649851" y="9299829"/>
                  </a:cubicBezTo>
                  <a:cubicBezTo>
                    <a:pt x="2081784" y="9299829"/>
                    <a:pt x="0" y="7217918"/>
                    <a:pt x="0" y="4649851"/>
                  </a:cubicBezTo>
                  <a:close/>
                </a:path>
              </a:pathLst>
            </a:custGeom>
            <a:solidFill>
              <a:srgbClr val="1A4A7A">
                <a:alpha val="5882"/>
              </a:srgbClr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709647" y="3651247"/>
            <a:ext cx="4401817" cy="4401817"/>
            <a:chOff x="0" y="0"/>
            <a:chExt cx="5869089" cy="5869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69051" cy="5869051"/>
            </a:xfrm>
            <a:custGeom>
              <a:avLst/>
              <a:gdLst/>
              <a:ahLst/>
              <a:cxnLst/>
              <a:rect r="r" b="b" t="t" l="l"/>
              <a:pathLst>
                <a:path h="5869051" w="5869051">
                  <a:moveTo>
                    <a:pt x="0" y="2934589"/>
                  </a:moveTo>
                  <a:cubicBezTo>
                    <a:pt x="0" y="1313815"/>
                    <a:pt x="1313815" y="0"/>
                    <a:pt x="2934589" y="0"/>
                  </a:cubicBezTo>
                  <a:cubicBezTo>
                    <a:pt x="4555363" y="0"/>
                    <a:pt x="5869051" y="1313815"/>
                    <a:pt x="5869051" y="2934589"/>
                  </a:cubicBezTo>
                  <a:cubicBezTo>
                    <a:pt x="5869051" y="4555363"/>
                    <a:pt x="4555236" y="5869051"/>
                    <a:pt x="2934589" y="5869051"/>
                  </a:cubicBezTo>
                  <a:cubicBezTo>
                    <a:pt x="1313942" y="5869051"/>
                    <a:pt x="0" y="4555236"/>
                    <a:pt x="0" y="2934589"/>
                  </a:cubicBezTo>
                  <a:close/>
                </a:path>
              </a:pathLst>
            </a:custGeom>
            <a:solidFill>
              <a:srgbClr val="0EA5E9">
                <a:alpha val="3922"/>
              </a:srgbClr>
            </a:solidFill>
            <a:ln w="12700" cap="sq">
              <a:solidFill>
                <a:srgbClr val="B8D4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011680"/>
            <a:ext cx="11887200" cy="2011680"/>
            <a:chOff x="0" y="0"/>
            <a:chExt cx="15849600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5849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4047239"/>
            <a:ext cx="3683003" cy="116843"/>
            <a:chOff x="0" y="0"/>
            <a:chExt cx="4910671" cy="155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10709" cy="155829"/>
            </a:xfrm>
            <a:custGeom>
              <a:avLst/>
              <a:gdLst/>
              <a:ahLst/>
              <a:cxnLst/>
              <a:rect r="r" b="b" t="t" l="l"/>
              <a:pathLst>
                <a:path h="155829" w="4910709">
                  <a:moveTo>
                    <a:pt x="0" y="0"/>
                  </a:moveTo>
                  <a:lnTo>
                    <a:pt x="4910709" y="0"/>
                  </a:lnTo>
                  <a:lnTo>
                    <a:pt x="49107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EA5E9"/>
            </a:solidFill>
            <a:ln w="25400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742183" y="4047239"/>
            <a:ext cx="939803" cy="116843"/>
            <a:chOff x="0" y="0"/>
            <a:chExt cx="1253071" cy="155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3109" cy="155829"/>
            </a:xfrm>
            <a:custGeom>
              <a:avLst/>
              <a:gdLst/>
              <a:ahLst/>
              <a:cxnLst/>
              <a:rect r="r" b="b" t="t" l="l"/>
              <a:pathLst>
                <a:path h="155829" w="1253109">
                  <a:moveTo>
                    <a:pt x="0" y="0"/>
                  </a:moveTo>
                  <a:lnTo>
                    <a:pt x="1253109" y="0"/>
                  </a:lnTo>
                  <a:lnTo>
                    <a:pt x="12531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4644380"/>
            <a:ext cx="10632443" cy="3408683"/>
            <a:chOff x="0" y="0"/>
            <a:chExt cx="14176591" cy="4544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76629" cy="4544949"/>
            </a:xfrm>
            <a:custGeom>
              <a:avLst/>
              <a:gdLst/>
              <a:ahLst/>
              <a:cxnLst/>
              <a:rect r="r" b="b" t="t" l="l"/>
              <a:pathLst>
                <a:path h="4544949" w="14176629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13881863" y="0"/>
                  </a:lnTo>
                  <a:cubicBezTo>
                    <a:pt x="14044676" y="0"/>
                    <a:pt x="14176629" y="131953"/>
                    <a:pt x="14176629" y="294767"/>
                  </a:cubicBezTo>
                  <a:lnTo>
                    <a:pt x="14176629" y="4250182"/>
                  </a:lnTo>
                  <a:cubicBezTo>
                    <a:pt x="14176629" y="4412996"/>
                    <a:pt x="14044676" y="4544949"/>
                    <a:pt x="13881863" y="4544949"/>
                  </a:cubicBezTo>
                  <a:lnTo>
                    <a:pt x="294767" y="4544949"/>
                  </a:lnTo>
                  <a:cubicBezTo>
                    <a:pt x="131953" y="4544949"/>
                    <a:pt x="0" y="4412869"/>
                    <a:pt x="0" y="4250182"/>
                  </a:cubicBezTo>
                  <a:close/>
                </a:path>
              </a:pathLst>
            </a:custGeom>
            <a:solidFill>
              <a:srgbClr val="0F2E50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84297" y="4876533"/>
            <a:ext cx="9692640" cy="694944"/>
            <a:chOff x="0" y="0"/>
            <a:chExt cx="1292352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23520" cy="926592"/>
            </a:xfrm>
            <a:custGeom>
              <a:avLst/>
              <a:gdLst/>
              <a:ahLst/>
              <a:cxnLst/>
              <a:rect r="r" b="b" t="t" l="l"/>
              <a:pathLst>
                <a:path h="9265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0" b="-2217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29235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Ritik Kumar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4297" y="5571477"/>
            <a:ext cx="9692640" cy="512064"/>
            <a:chOff x="0" y="0"/>
            <a:chExt cx="1292352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2923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B.Tech Chemical Engineering, Class of 2027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84297" y="6083541"/>
            <a:ext cx="9692640" cy="475488"/>
            <a:chOff x="0" y="0"/>
            <a:chExt cx="12923520" cy="633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923520" cy="633984"/>
            </a:xfrm>
            <a:custGeom>
              <a:avLst/>
              <a:gdLst/>
              <a:ahLst/>
              <a:cxnLst/>
              <a:rect r="r" b="b" t="t" l="l"/>
              <a:pathLst>
                <a:path h="633984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195" r="0" b="-34719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9235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Delhi Technological University  ·  CGPA: 8.69  ·  GATE 2026 AIR 508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4297" y="6595605"/>
            <a:ext cx="9692640" cy="475488"/>
            <a:chOff x="0" y="0"/>
            <a:chExt cx="1292352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923520" cy="633984"/>
            </a:xfrm>
            <a:custGeom>
              <a:avLst/>
              <a:gdLst/>
              <a:ahLst/>
              <a:cxnLst/>
              <a:rect r="r" b="b" t="t" l="l"/>
              <a:pathLst>
                <a:path h="633984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195" r="0" b="-3471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9235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Organization: Bluestock Fintech  ·  Project: bluestock_mf_capstone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84297" y="7180821"/>
            <a:ext cx="9692640" cy="512064"/>
            <a:chOff x="0" y="0"/>
            <a:chExt cx="1292352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2923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Portfolio: ritspective.lovable.app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9729216"/>
            <a:ext cx="18288000" cy="402336"/>
            <a:chOff x="0" y="0"/>
            <a:chExt cx="24384000" cy="5364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0" cy="536448"/>
            </a:xfrm>
            <a:custGeom>
              <a:avLst/>
              <a:gdLst/>
              <a:ahLst/>
              <a:cxnLst/>
              <a:rect r="r" b="b" t="t" l="l"/>
              <a:pathLst>
                <a:path h="5364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5683" r="0" b="-83568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4384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Mutual Fund Analytics Capstone  ·  Bluestock Fintech  ·  2024–25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DAHMNJsLNPw</dc:identifier>
  <dcterms:modified xsi:type="dcterms:W3CDTF">2011-08-01T06:04:30Z</dcterms:modified>
  <cp:revision>1</cp:revision>
  <dc:title>Bluestock_mf_final_ppt.pptx</dc:title>
</cp:coreProperties>
</file>